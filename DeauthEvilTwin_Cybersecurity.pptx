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Arial Bold" charset="1" panose="020B0704020202020204"/>
      <p:regular r:id="rId15"/>
    </p:embeddedFont>
    <p:embeddedFont>
      <p:font typeface="Calibri (MS) Bold Italics" charset="1" panose="020F07020304040A0204"/>
      <p:regular r:id="rId16"/>
    </p:embeddedFont>
    <p:embeddedFont>
      <p:font typeface="Consolas" charset="1" panose="020B0609020204030204"/>
      <p:regular r:id="rId17"/>
    </p:embeddedFont>
    <p:embeddedFont>
      <p:font typeface="Calibri (MS) Italics" charset="1" panose="020F05020202040A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482603" cy="10312403"/>
            <a:chOff x="0" y="0"/>
            <a:chExt cx="6434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33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13732890"/>
                  </a:lnTo>
                  <a:cubicBezTo>
                    <a:pt x="643382" y="13742290"/>
                    <a:pt x="635762" y="13749782"/>
                    <a:pt x="626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26491" y="13716000"/>
                  </a:lnTo>
                  <a:lnTo>
                    <a:pt x="626491" y="13732890"/>
                  </a:lnTo>
                  <a:lnTo>
                    <a:pt x="609600" y="13732890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34350" y="725805"/>
            <a:ext cx="10058400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0"/>
              </a:lnSpc>
            </a:pPr>
            <a:r>
              <a:rPr lang="en-US" b="true" sz="18000">
                <a:solidFill>
                  <a:srgbClr val="A6A6A6">
                    <a:alpha val="29804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802.11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7280" y="2011680"/>
            <a:ext cx="14630400" cy="1371600"/>
            <a:chOff x="0" y="0"/>
            <a:chExt cx="1950720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9507200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DEAUTHENTICATION &amp;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3383280"/>
            <a:ext cx="14630400" cy="1371600"/>
            <a:chOff x="0" y="0"/>
            <a:chExt cx="1950720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9507200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EVIL TWIN ATTACKS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4961639"/>
            <a:ext cx="6426203" cy="98555"/>
            <a:chOff x="0" y="0"/>
            <a:chExt cx="8568271" cy="1314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8534400" cy="97536"/>
            </a:xfrm>
            <a:custGeom>
              <a:avLst/>
              <a:gdLst/>
              <a:ahLst/>
              <a:cxnLst/>
              <a:rect r="r" b="b" t="t" l="l"/>
              <a:pathLst>
                <a:path h="975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68182" cy="131320"/>
            </a:xfrm>
            <a:custGeom>
              <a:avLst/>
              <a:gdLst/>
              <a:ahLst/>
              <a:cxnLst/>
              <a:rect r="r" b="b" t="t" l="l"/>
              <a:pathLst>
                <a:path h="13132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5212080"/>
            <a:ext cx="14630400" cy="731520"/>
            <a:chOff x="0" y="0"/>
            <a:chExt cx="195072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507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they work — and how to stop them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4583" y="6296663"/>
            <a:ext cx="2037083" cy="482603"/>
            <a:chOff x="0" y="0"/>
            <a:chExt cx="2716111" cy="6434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16022" cy="643384"/>
            </a:xfrm>
            <a:custGeom>
              <a:avLst/>
              <a:gdLst/>
              <a:ahLst/>
              <a:cxnLst/>
              <a:rect r="r" b="b" t="t" l="l"/>
              <a:pathLst>
                <a:path h="6433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26491"/>
                  </a:lnTo>
                  <a:cubicBezTo>
                    <a:pt x="2716022" y="635889"/>
                    <a:pt x="2708402" y="643382"/>
                    <a:pt x="26991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99131" y="609600"/>
                  </a:lnTo>
                  <a:lnTo>
                    <a:pt x="2699131" y="626491"/>
                  </a:lnTo>
                  <a:lnTo>
                    <a:pt x="2682240" y="6264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6309360"/>
            <a:ext cx="2011680" cy="457200"/>
            <a:chOff x="0" y="0"/>
            <a:chExt cx="268224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6822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CYBERSECURITY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79143" y="6296663"/>
            <a:ext cx="2037083" cy="482603"/>
            <a:chOff x="0" y="0"/>
            <a:chExt cx="2716111" cy="6434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16022" cy="643384"/>
            </a:xfrm>
            <a:custGeom>
              <a:avLst/>
              <a:gdLst/>
              <a:ahLst/>
              <a:cxnLst/>
              <a:rect r="r" b="b" t="t" l="l"/>
              <a:pathLst>
                <a:path h="6433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26491"/>
                  </a:lnTo>
                  <a:cubicBezTo>
                    <a:pt x="2716022" y="635889"/>
                    <a:pt x="2708402" y="643382"/>
                    <a:pt x="26991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99131" y="609600"/>
                  </a:lnTo>
                  <a:lnTo>
                    <a:pt x="2699131" y="626491"/>
                  </a:lnTo>
                  <a:lnTo>
                    <a:pt x="2682240" y="6264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291840" y="6309360"/>
            <a:ext cx="2011680" cy="457200"/>
            <a:chOff x="0" y="0"/>
            <a:chExt cx="268224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6822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802.11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73703" y="6296663"/>
            <a:ext cx="2037083" cy="482603"/>
            <a:chOff x="0" y="0"/>
            <a:chExt cx="2716111" cy="6434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16022" cy="643384"/>
            </a:xfrm>
            <a:custGeom>
              <a:avLst/>
              <a:gdLst/>
              <a:ahLst/>
              <a:cxnLst/>
              <a:rect r="r" b="b" t="t" l="l"/>
              <a:pathLst>
                <a:path h="6433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26491"/>
                  </a:lnTo>
                  <a:cubicBezTo>
                    <a:pt x="2716022" y="635889"/>
                    <a:pt x="2708402" y="643382"/>
                    <a:pt x="26991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99131" y="609600"/>
                  </a:lnTo>
                  <a:lnTo>
                    <a:pt x="2699131" y="626491"/>
                  </a:lnTo>
                  <a:lnTo>
                    <a:pt x="2682240" y="6264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86400" y="6309360"/>
            <a:ext cx="2011680" cy="457200"/>
            <a:chOff x="0" y="0"/>
            <a:chExt cx="268224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82240" cy="609600"/>
            </a:xfrm>
            <a:custGeom>
              <a:avLst/>
              <a:gdLst/>
              <a:ahLst/>
              <a:cxnLst/>
              <a:rect r="r" b="b" t="t" l="l"/>
              <a:pathLst>
                <a:path h="6096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6822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WIRELESS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2697" y="9679943"/>
            <a:ext cx="18313403" cy="619763"/>
            <a:chOff x="0" y="0"/>
            <a:chExt cx="24417871" cy="8263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4383999" cy="792480"/>
            </a:xfrm>
            <a:custGeom>
              <a:avLst/>
              <a:gdLst/>
              <a:ahLst/>
              <a:cxnLst/>
              <a:rect r="r" b="b" t="t" l="l"/>
              <a:pathLst>
                <a:path h="7924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9248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17782" cy="826264"/>
            </a:xfrm>
            <a:custGeom>
              <a:avLst/>
              <a:gdLst/>
              <a:ahLst/>
              <a:cxnLst/>
              <a:rect r="r" b="b" t="t" l="l"/>
              <a:pathLst>
                <a:path h="82626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09371"/>
                  </a:lnTo>
                  <a:cubicBezTo>
                    <a:pt x="24417782" y="818769"/>
                    <a:pt x="24410163" y="826262"/>
                    <a:pt x="24400890" y="826262"/>
                  </a:cubicBezTo>
                  <a:lnTo>
                    <a:pt x="16891" y="826262"/>
                  </a:lnTo>
                  <a:cubicBezTo>
                    <a:pt x="7620" y="826389"/>
                    <a:pt x="0" y="818769"/>
                    <a:pt x="0" y="809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9371"/>
                  </a:lnTo>
                  <a:lnTo>
                    <a:pt x="16891" y="809371"/>
                  </a:lnTo>
                  <a:lnTo>
                    <a:pt x="16891" y="792480"/>
                  </a:lnTo>
                  <a:lnTo>
                    <a:pt x="24400890" y="792480"/>
                  </a:lnTo>
                  <a:lnTo>
                    <a:pt x="24400890" y="809371"/>
                  </a:lnTo>
                  <a:lnTo>
                    <a:pt x="24384000" y="8093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8640" y="9692640"/>
            <a:ext cx="17190720" cy="594360"/>
            <a:chOff x="0" y="0"/>
            <a:chExt cx="22920960" cy="79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20961" cy="792480"/>
            </a:xfrm>
            <a:custGeom>
              <a:avLst/>
              <a:gdLst/>
              <a:ahLst/>
              <a:cxnLst/>
              <a:rect r="r" b="b" t="t" l="l"/>
              <a:pathLst>
                <a:path h="7924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567" r="0" b="-5135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2920960" cy="83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Mahi Jaiswal | Pratikshya Dash | Rahul Sinha | Rohit Sinha  |  NMIMS Indore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163550" y="3749040"/>
            <a:ext cx="3657600" cy="3657600"/>
            <a:chOff x="0" y="0"/>
            <a:chExt cx="4876800" cy="48768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6670"/>
            <a:ext cx="16459200" cy="914400"/>
            <a:chOff x="0" y="0"/>
            <a:chExt cx="219456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FOUNDATIONAL FLAW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7309" y="717428"/>
            <a:ext cx="13943091" cy="1005840"/>
            <a:chOff x="0" y="0"/>
            <a:chExt cx="18590788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907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8590788">
                  <a:moveTo>
                    <a:pt x="0" y="0"/>
                  </a:moveTo>
                  <a:lnTo>
                    <a:pt x="18590788" y="0"/>
                  </a:lnTo>
                  <a:lnTo>
                    <a:pt x="185907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-18045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8590788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802.11 Management Frames — Signed or Unsigned?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847093"/>
            <a:ext cx="8072123" cy="7560143"/>
            <a:chOff x="0" y="0"/>
            <a:chExt cx="10762831" cy="10080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8308"/>
              <a:ext cx="10728960" cy="10043477"/>
            </a:xfrm>
            <a:custGeom>
              <a:avLst/>
              <a:gdLst/>
              <a:ahLst/>
              <a:cxnLst/>
              <a:rect r="r" b="b" t="t" l="l"/>
              <a:pathLst>
                <a:path h="10043477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043477"/>
                  </a:lnTo>
                  <a:lnTo>
                    <a:pt x="0" y="100434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10080093"/>
            </a:xfrm>
            <a:custGeom>
              <a:avLst/>
              <a:gdLst/>
              <a:ahLst/>
              <a:cxnLst/>
              <a:rect r="r" b="b" t="t" l="l"/>
              <a:pathLst>
                <a:path h="10080093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8259"/>
                    <a:pt x="10762742" y="18308"/>
                  </a:cubicBezTo>
                  <a:lnTo>
                    <a:pt x="10762742" y="10061785"/>
                  </a:lnTo>
                  <a:cubicBezTo>
                    <a:pt x="10762742" y="10071972"/>
                    <a:pt x="10755122" y="10080093"/>
                    <a:pt x="10745851" y="10080093"/>
                  </a:cubicBezTo>
                  <a:lnTo>
                    <a:pt x="16891" y="10080093"/>
                  </a:lnTo>
                  <a:cubicBezTo>
                    <a:pt x="7493" y="10080093"/>
                    <a:pt x="0" y="10071834"/>
                    <a:pt x="0" y="10061785"/>
                  </a:cubicBezTo>
                  <a:lnTo>
                    <a:pt x="0" y="18308"/>
                  </a:lnTo>
                  <a:cubicBezTo>
                    <a:pt x="0" y="8259"/>
                    <a:pt x="7620" y="0"/>
                    <a:pt x="16891" y="0"/>
                  </a:cubicBezTo>
                  <a:moveTo>
                    <a:pt x="16891" y="36755"/>
                  </a:moveTo>
                  <a:lnTo>
                    <a:pt x="16891" y="18308"/>
                  </a:lnTo>
                  <a:lnTo>
                    <a:pt x="33909" y="18308"/>
                  </a:lnTo>
                  <a:lnTo>
                    <a:pt x="33909" y="10061785"/>
                  </a:lnTo>
                  <a:lnTo>
                    <a:pt x="16891" y="10061785"/>
                  </a:lnTo>
                  <a:lnTo>
                    <a:pt x="16891" y="10043477"/>
                  </a:lnTo>
                  <a:lnTo>
                    <a:pt x="10745851" y="10043477"/>
                  </a:lnTo>
                  <a:lnTo>
                    <a:pt x="10745851" y="10061785"/>
                  </a:lnTo>
                  <a:lnTo>
                    <a:pt x="10728960" y="10061785"/>
                  </a:lnTo>
                  <a:lnTo>
                    <a:pt x="10728960" y="18308"/>
                  </a:lnTo>
                  <a:lnTo>
                    <a:pt x="10745851" y="18308"/>
                  </a:lnTo>
                  <a:lnTo>
                    <a:pt x="10745851" y="36755"/>
                  </a:lnTo>
                  <a:lnTo>
                    <a:pt x="16891" y="3675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847093"/>
            <a:ext cx="135131" cy="7560143"/>
            <a:chOff x="0" y="0"/>
            <a:chExt cx="180175" cy="1008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8308"/>
              <a:ext cx="146304" cy="10043477"/>
            </a:xfrm>
            <a:custGeom>
              <a:avLst/>
              <a:gdLst/>
              <a:ahLst/>
              <a:cxnLst/>
              <a:rect r="r" b="b" t="t" l="l"/>
              <a:pathLst>
                <a:path h="10043477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043477"/>
                  </a:lnTo>
                  <a:lnTo>
                    <a:pt x="0" y="10043477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10080093"/>
            </a:xfrm>
            <a:custGeom>
              <a:avLst/>
              <a:gdLst/>
              <a:ahLst/>
              <a:cxnLst/>
              <a:rect r="r" b="b" t="t" l="l"/>
              <a:pathLst>
                <a:path h="10080093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8259"/>
                    <a:pt x="180086" y="18308"/>
                  </a:cubicBezTo>
                  <a:lnTo>
                    <a:pt x="180086" y="10061785"/>
                  </a:lnTo>
                  <a:cubicBezTo>
                    <a:pt x="180086" y="10071972"/>
                    <a:pt x="172466" y="10080093"/>
                    <a:pt x="163195" y="10080093"/>
                  </a:cubicBezTo>
                  <a:lnTo>
                    <a:pt x="16891" y="10080093"/>
                  </a:lnTo>
                  <a:cubicBezTo>
                    <a:pt x="7493" y="10080093"/>
                    <a:pt x="0" y="10071834"/>
                    <a:pt x="0" y="10061785"/>
                  </a:cubicBezTo>
                  <a:lnTo>
                    <a:pt x="0" y="18308"/>
                  </a:lnTo>
                  <a:cubicBezTo>
                    <a:pt x="0" y="8259"/>
                    <a:pt x="7620" y="0"/>
                    <a:pt x="16891" y="0"/>
                  </a:cubicBezTo>
                  <a:moveTo>
                    <a:pt x="16891" y="36755"/>
                  </a:moveTo>
                  <a:lnTo>
                    <a:pt x="16891" y="18308"/>
                  </a:lnTo>
                  <a:lnTo>
                    <a:pt x="33909" y="18308"/>
                  </a:lnTo>
                  <a:lnTo>
                    <a:pt x="33909" y="10061785"/>
                  </a:lnTo>
                  <a:lnTo>
                    <a:pt x="16891" y="10061785"/>
                  </a:lnTo>
                  <a:lnTo>
                    <a:pt x="16891" y="10043477"/>
                  </a:lnTo>
                  <a:lnTo>
                    <a:pt x="163195" y="10043477"/>
                  </a:lnTo>
                  <a:lnTo>
                    <a:pt x="163195" y="10061785"/>
                  </a:lnTo>
                  <a:lnTo>
                    <a:pt x="146304" y="10061785"/>
                  </a:lnTo>
                  <a:lnTo>
                    <a:pt x="146304" y="18308"/>
                  </a:lnTo>
                  <a:lnTo>
                    <a:pt x="163195" y="18308"/>
                  </a:lnTo>
                  <a:lnTo>
                    <a:pt x="163195" y="36755"/>
                  </a:lnTo>
                  <a:lnTo>
                    <a:pt x="16891" y="36755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2134110"/>
            <a:ext cx="7315200" cy="640080"/>
            <a:chOff x="0" y="0"/>
            <a:chExt cx="9753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are Management Frames?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31303" y="1847093"/>
            <a:ext cx="8437883" cy="3974867"/>
            <a:chOff x="0" y="0"/>
            <a:chExt cx="11250511" cy="52998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9626"/>
              <a:ext cx="11216640" cy="5280520"/>
            </a:xfrm>
            <a:custGeom>
              <a:avLst/>
              <a:gdLst/>
              <a:ahLst/>
              <a:cxnLst/>
              <a:rect r="r" b="b" t="t" l="l"/>
              <a:pathLst>
                <a:path h="5280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280520"/>
                  </a:lnTo>
                  <a:lnTo>
                    <a:pt x="0" y="5280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50422" cy="5299772"/>
            </a:xfrm>
            <a:custGeom>
              <a:avLst/>
              <a:gdLst/>
              <a:ahLst/>
              <a:cxnLst/>
              <a:rect r="r" b="b" t="t" l="l"/>
              <a:pathLst>
                <a:path h="529977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4343"/>
                    <a:pt x="11250422" y="9626"/>
                  </a:cubicBezTo>
                  <a:lnTo>
                    <a:pt x="11250422" y="5290146"/>
                  </a:lnTo>
                  <a:cubicBezTo>
                    <a:pt x="11250422" y="5295502"/>
                    <a:pt x="11242802" y="5299772"/>
                    <a:pt x="11233531" y="5299772"/>
                  </a:cubicBezTo>
                  <a:lnTo>
                    <a:pt x="16891" y="5299772"/>
                  </a:lnTo>
                  <a:cubicBezTo>
                    <a:pt x="7493" y="5299772"/>
                    <a:pt x="0" y="5295429"/>
                    <a:pt x="0" y="5290146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290146"/>
                  </a:lnTo>
                  <a:lnTo>
                    <a:pt x="16891" y="5290146"/>
                  </a:lnTo>
                  <a:lnTo>
                    <a:pt x="16891" y="5280520"/>
                  </a:lnTo>
                  <a:lnTo>
                    <a:pt x="11233531" y="5280520"/>
                  </a:lnTo>
                  <a:lnTo>
                    <a:pt x="11233531" y="5290146"/>
                  </a:lnTo>
                  <a:lnTo>
                    <a:pt x="11216640" y="5290146"/>
                  </a:lnTo>
                  <a:lnTo>
                    <a:pt x="11216640" y="9626"/>
                  </a:lnTo>
                  <a:lnTo>
                    <a:pt x="11233531" y="9626"/>
                  </a:lnTo>
                  <a:lnTo>
                    <a:pt x="11233531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31303" y="1847093"/>
            <a:ext cx="135131" cy="3974867"/>
            <a:chOff x="0" y="0"/>
            <a:chExt cx="180175" cy="5299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9626"/>
              <a:ext cx="146304" cy="5280520"/>
            </a:xfrm>
            <a:custGeom>
              <a:avLst/>
              <a:gdLst/>
              <a:ahLst/>
              <a:cxnLst/>
              <a:rect r="r" b="b" t="t" l="l"/>
              <a:pathLst>
                <a:path h="5280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280520"/>
                  </a:lnTo>
                  <a:lnTo>
                    <a:pt x="0" y="528052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5299772"/>
            </a:xfrm>
            <a:custGeom>
              <a:avLst/>
              <a:gdLst/>
              <a:ahLst/>
              <a:cxnLst/>
              <a:rect r="r" b="b" t="t" l="l"/>
              <a:pathLst>
                <a:path h="529977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4343"/>
                    <a:pt x="180086" y="9626"/>
                  </a:cubicBezTo>
                  <a:lnTo>
                    <a:pt x="180086" y="5290146"/>
                  </a:lnTo>
                  <a:cubicBezTo>
                    <a:pt x="180086" y="5295502"/>
                    <a:pt x="172466" y="5299772"/>
                    <a:pt x="163195" y="5299772"/>
                  </a:cubicBezTo>
                  <a:lnTo>
                    <a:pt x="16891" y="5299772"/>
                  </a:lnTo>
                  <a:cubicBezTo>
                    <a:pt x="7493" y="5299772"/>
                    <a:pt x="0" y="5295429"/>
                    <a:pt x="0" y="5290146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290146"/>
                  </a:lnTo>
                  <a:lnTo>
                    <a:pt x="16891" y="5290146"/>
                  </a:lnTo>
                  <a:lnTo>
                    <a:pt x="16891" y="5280520"/>
                  </a:lnTo>
                  <a:lnTo>
                    <a:pt x="163195" y="5280520"/>
                  </a:lnTo>
                  <a:lnTo>
                    <a:pt x="163195" y="5290146"/>
                  </a:lnTo>
                  <a:lnTo>
                    <a:pt x="146304" y="5290146"/>
                  </a:lnTo>
                  <a:lnTo>
                    <a:pt x="146304" y="9626"/>
                  </a:lnTo>
                  <a:lnTo>
                    <a:pt x="163195" y="9626"/>
                  </a:lnTo>
                  <a:lnTo>
                    <a:pt x="163195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0" y="1856729"/>
            <a:ext cx="7498080" cy="518703"/>
            <a:chOff x="0" y="0"/>
            <a:chExt cx="9997440" cy="6916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91604"/>
            </a:xfrm>
            <a:custGeom>
              <a:avLst/>
              <a:gdLst/>
              <a:ahLst/>
              <a:cxnLst/>
              <a:rect r="r" b="b" t="t" l="l"/>
              <a:pathLst>
                <a:path h="69160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964" r="0" b="-2433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Deauth Frame Structure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11967" y="2476033"/>
            <a:ext cx="7693657" cy="444963"/>
            <a:chOff x="0" y="0"/>
            <a:chExt cx="10258209" cy="5932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4849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58299" cy="593373"/>
            </a:xfrm>
            <a:custGeom>
              <a:avLst/>
              <a:gdLst/>
              <a:ahLst/>
              <a:cxnLst/>
              <a:rect r="r" b="b" t="t" l="l"/>
              <a:pathLst>
                <a:path h="593373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2171"/>
                    <a:pt x="10258299" y="4849"/>
                  </a:cubicBezTo>
                  <a:lnTo>
                    <a:pt x="10258299" y="588486"/>
                  </a:lnTo>
                  <a:cubicBezTo>
                    <a:pt x="10258299" y="591163"/>
                    <a:pt x="10254488" y="593373"/>
                    <a:pt x="10249789" y="593373"/>
                  </a:cubicBezTo>
                  <a:lnTo>
                    <a:pt x="8509" y="593373"/>
                  </a:lnTo>
                  <a:cubicBezTo>
                    <a:pt x="3810" y="593373"/>
                    <a:pt x="0" y="591163"/>
                    <a:pt x="0" y="588486"/>
                  </a:cubicBezTo>
                  <a:lnTo>
                    <a:pt x="0" y="4849"/>
                  </a:lnTo>
                  <a:cubicBezTo>
                    <a:pt x="0" y="2171"/>
                    <a:pt x="3810" y="0"/>
                    <a:pt x="8509" y="0"/>
                  </a:cubicBezTo>
                  <a:moveTo>
                    <a:pt x="8509" y="9626"/>
                  </a:moveTo>
                  <a:lnTo>
                    <a:pt x="8509" y="4849"/>
                  </a:lnTo>
                  <a:lnTo>
                    <a:pt x="17018" y="4849"/>
                  </a:lnTo>
                  <a:lnTo>
                    <a:pt x="17018" y="588486"/>
                  </a:lnTo>
                  <a:lnTo>
                    <a:pt x="8509" y="588486"/>
                  </a:lnTo>
                  <a:lnTo>
                    <a:pt x="8509" y="583636"/>
                  </a:lnTo>
                  <a:lnTo>
                    <a:pt x="10249789" y="583636"/>
                  </a:lnTo>
                  <a:lnTo>
                    <a:pt x="10249789" y="588486"/>
                  </a:lnTo>
                  <a:lnTo>
                    <a:pt x="10241280" y="588486"/>
                  </a:lnTo>
                  <a:lnTo>
                    <a:pt x="10241280" y="4849"/>
                  </a:lnTo>
                  <a:lnTo>
                    <a:pt x="10249789" y="4849"/>
                  </a:lnTo>
                  <a:lnTo>
                    <a:pt x="10249789" y="9698"/>
                  </a:lnTo>
                  <a:lnTo>
                    <a:pt x="8509" y="969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09760" y="2500497"/>
            <a:ext cx="2743200" cy="396039"/>
            <a:chOff x="0" y="0"/>
            <a:chExt cx="3657600" cy="5280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657600" cy="56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 Control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148823" y="2472418"/>
            <a:ext cx="61979" cy="452204"/>
            <a:chOff x="0" y="0"/>
            <a:chExt cx="82639" cy="6029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52960" y="2500497"/>
            <a:ext cx="4754880" cy="396039"/>
            <a:chOff x="0" y="0"/>
            <a:chExt cx="6339840" cy="5280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Management / Subtype: 0x0C (Deauth)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11967" y="2997137"/>
            <a:ext cx="7693657" cy="444963"/>
            <a:chOff x="0" y="0"/>
            <a:chExt cx="10258209" cy="5932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4849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58299" cy="593373"/>
            </a:xfrm>
            <a:custGeom>
              <a:avLst/>
              <a:gdLst/>
              <a:ahLst/>
              <a:cxnLst/>
              <a:rect r="r" b="b" t="t" l="l"/>
              <a:pathLst>
                <a:path h="593373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2171"/>
                    <a:pt x="10258299" y="4849"/>
                  </a:cubicBezTo>
                  <a:lnTo>
                    <a:pt x="10258299" y="588486"/>
                  </a:lnTo>
                  <a:cubicBezTo>
                    <a:pt x="10258299" y="591163"/>
                    <a:pt x="10254488" y="593373"/>
                    <a:pt x="10249789" y="593373"/>
                  </a:cubicBezTo>
                  <a:lnTo>
                    <a:pt x="8509" y="593373"/>
                  </a:lnTo>
                  <a:cubicBezTo>
                    <a:pt x="3810" y="593373"/>
                    <a:pt x="0" y="591163"/>
                    <a:pt x="0" y="588486"/>
                  </a:cubicBezTo>
                  <a:lnTo>
                    <a:pt x="0" y="4849"/>
                  </a:lnTo>
                  <a:cubicBezTo>
                    <a:pt x="0" y="2171"/>
                    <a:pt x="3810" y="0"/>
                    <a:pt x="8509" y="0"/>
                  </a:cubicBezTo>
                  <a:moveTo>
                    <a:pt x="8509" y="9626"/>
                  </a:moveTo>
                  <a:lnTo>
                    <a:pt x="8509" y="4849"/>
                  </a:lnTo>
                  <a:lnTo>
                    <a:pt x="17018" y="4849"/>
                  </a:lnTo>
                  <a:lnTo>
                    <a:pt x="17018" y="588486"/>
                  </a:lnTo>
                  <a:lnTo>
                    <a:pt x="8509" y="588486"/>
                  </a:lnTo>
                  <a:lnTo>
                    <a:pt x="8509" y="583636"/>
                  </a:lnTo>
                  <a:lnTo>
                    <a:pt x="10249789" y="583636"/>
                  </a:lnTo>
                  <a:lnTo>
                    <a:pt x="10249789" y="588486"/>
                  </a:lnTo>
                  <a:lnTo>
                    <a:pt x="10241280" y="588486"/>
                  </a:lnTo>
                  <a:lnTo>
                    <a:pt x="10241280" y="4849"/>
                  </a:lnTo>
                  <a:lnTo>
                    <a:pt x="10249789" y="4849"/>
                  </a:lnTo>
                  <a:lnTo>
                    <a:pt x="10249789" y="9698"/>
                  </a:lnTo>
                  <a:lnTo>
                    <a:pt x="8509" y="969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09760" y="3021601"/>
            <a:ext cx="2743200" cy="396039"/>
            <a:chOff x="0" y="0"/>
            <a:chExt cx="3657600" cy="5280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657600" cy="56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Destination MAC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48823" y="2993521"/>
            <a:ext cx="61979" cy="452204"/>
            <a:chOff x="0" y="0"/>
            <a:chExt cx="82639" cy="60293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52960" y="3021601"/>
            <a:ext cx="4754880" cy="396039"/>
            <a:chOff x="0" y="0"/>
            <a:chExt cx="6339840" cy="5280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client (or FF:FF:FF:FF:FF:FF = broadcast)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1967" y="3518241"/>
            <a:ext cx="7693657" cy="444963"/>
            <a:chOff x="0" y="0"/>
            <a:chExt cx="10258209" cy="5932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4849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58299" cy="593373"/>
            </a:xfrm>
            <a:custGeom>
              <a:avLst/>
              <a:gdLst/>
              <a:ahLst/>
              <a:cxnLst/>
              <a:rect r="r" b="b" t="t" l="l"/>
              <a:pathLst>
                <a:path h="593373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2171"/>
                    <a:pt x="10258299" y="4849"/>
                  </a:cubicBezTo>
                  <a:lnTo>
                    <a:pt x="10258299" y="588486"/>
                  </a:lnTo>
                  <a:cubicBezTo>
                    <a:pt x="10258299" y="591163"/>
                    <a:pt x="10254488" y="593373"/>
                    <a:pt x="10249789" y="593373"/>
                  </a:cubicBezTo>
                  <a:lnTo>
                    <a:pt x="8509" y="593373"/>
                  </a:lnTo>
                  <a:cubicBezTo>
                    <a:pt x="3810" y="593373"/>
                    <a:pt x="0" y="591163"/>
                    <a:pt x="0" y="588486"/>
                  </a:cubicBezTo>
                  <a:lnTo>
                    <a:pt x="0" y="4849"/>
                  </a:lnTo>
                  <a:cubicBezTo>
                    <a:pt x="0" y="2171"/>
                    <a:pt x="3810" y="0"/>
                    <a:pt x="8509" y="0"/>
                  </a:cubicBezTo>
                  <a:moveTo>
                    <a:pt x="8509" y="9626"/>
                  </a:moveTo>
                  <a:lnTo>
                    <a:pt x="8509" y="4849"/>
                  </a:lnTo>
                  <a:lnTo>
                    <a:pt x="17018" y="4849"/>
                  </a:lnTo>
                  <a:lnTo>
                    <a:pt x="17018" y="588486"/>
                  </a:lnTo>
                  <a:lnTo>
                    <a:pt x="8509" y="588486"/>
                  </a:lnTo>
                  <a:lnTo>
                    <a:pt x="8509" y="583636"/>
                  </a:lnTo>
                  <a:lnTo>
                    <a:pt x="10249789" y="583636"/>
                  </a:lnTo>
                  <a:lnTo>
                    <a:pt x="10249789" y="588486"/>
                  </a:lnTo>
                  <a:lnTo>
                    <a:pt x="10241280" y="588486"/>
                  </a:lnTo>
                  <a:lnTo>
                    <a:pt x="10241280" y="4849"/>
                  </a:lnTo>
                  <a:lnTo>
                    <a:pt x="10249789" y="4849"/>
                  </a:lnTo>
                  <a:lnTo>
                    <a:pt x="10249789" y="9698"/>
                  </a:lnTo>
                  <a:lnTo>
                    <a:pt x="8509" y="969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09760" y="3542705"/>
            <a:ext cx="2743200" cy="396039"/>
            <a:chOff x="0" y="0"/>
            <a:chExt cx="3657600" cy="5280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56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MAC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148823" y="3514625"/>
            <a:ext cx="61979" cy="452204"/>
            <a:chOff x="0" y="0"/>
            <a:chExt cx="82639" cy="6029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52960" y="3542705"/>
            <a:ext cx="4754880" cy="396039"/>
            <a:chOff x="0" y="0"/>
            <a:chExt cx="6339840" cy="5280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Spoofed — copied from real AP's BSSID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11967" y="4039345"/>
            <a:ext cx="7693657" cy="444963"/>
            <a:chOff x="0" y="0"/>
            <a:chExt cx="10258209" cy="5932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4849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58299" cy="593373"/>
            </a:xfrm>
            <a:custGeom>
              <a:avLst/>
              <a:gdLst/>
              <a:ahLst/>
              <a:cxnLst/>
              <a:rect r="r" b="b" t="t" l="l"/>
              <a:pathLst>
                <a:path h="593373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2171"/>
                    <a:pt x="10258299" y="4849"/>
                  </a:cubicBezTo>
                  <a:lnTo>
                    <a:pt x="10258299" y="588486"/>
                  </a:lnTo>
                  <a:cubicBezTo>
                    <a:pt x="10258299" y="591163"/>
                    <a:pt x="10254488" y="593373"/>
                    <a:pt x="10249789" y="593373"/>
                  </a:cubicBezTo>
                  <a:lnTo>
                    <a:pt x="8509" y="593373"/>
                  </a:lnTo>
                  <a:cubicBezTo>
                    <a:pt x="3810" y="593373"/>
                    <a:pt x="0" y="591163"/>
                    <a:pt x="0" y="588486"/>
                  </a:cubicBezTo>
                  <a:lnTo>
                    <a:pt x="0" y="4849"/>
                  </a:lnTo>
                  <a:cubicBezTo>
                    <a:pt x="0" y="2171"/>
                    <a:pt x="3810" y="0"/>
                    <a:pt x="8509" y="0"/>
                  </a:cubicBezTo>
                  <a:moveTo>
                    <a:pt x="8509" y="9626"/>
                  </a:moveTo>
                  <a:lnTo>
                    <a:pt x="8509" y="4849"/>
                  </a:lnTo>
                  <a:lnTo>
                    <a:pt x="17018" y="4849"/>
                  </a:lnTo>
                  <a:lnTo>
                    <a:pt x="17018" y="588486"/>
                  </a:lnTo>
                  <a:lnTo>
                    <a:pt x="8509" y="588486"/>
                  </a:lnTo>
                  <a:lnTo>
                    <a:pt x="8509" y="583636"/>
                  </a:lnTo>
                  <a:lnTo>
                    <a:pt x="10249789" y="583636"/>
                  </a:lnTo>
                  <a:lnTo>
                    <a:pt x="10249789" y="588486"/>
                  </a:lnTo>
                  <a:lnTo>
                    <a:pt x="10241280" y="588486"/>
                  </a:lnTo>
                  <a:lnTo>
                    <a:pt x="10241280" y="4849"/>
                  </a:lnTo>
                  <a:lnTo>
                    <a:pt x="10249789" y="4849"/>
                  </a:lnTo>
                  <a:lnTo>
                    <a:pt x="10249789" y="9698"/>
                  </a:lnTo>
                  <a:lnTo>
                    <a:pt x="8509" y="969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0" y="4063809"/>
            <a:ext cx="2743200" cy="396039"/>
            <a:chOff x="0" y="0"/>
            <a:chExt cx="3657600" cy="5280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657600" cy="56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BSSID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48823" y="4035729"/>
            <a:ext cx="61979" cy="452204"/>
            <a:chOff x="0" y="0"/>
            <a:chExt cx="82639" cy="60293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252960" y="4063809"/>
            <a:ext cx="4754880" cy="396039"/>
            <a:chOff x="0" y="0"/>
            <a:chExt cx="6339840" cy="5280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Also spoofed to match AP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11967" y="4560449"/>
            <a:ext cx="7693657" cy="444963"/>
            <a:chOff x="0" y="0"/>
            <a:chExt cx="10258209" cy="5932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4849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58299" cy="593373"/>
            </a:xfrm>
            <a:custGeom>
              <a:avLst/>
              <a:gdLst/>
              <a:ahLst/>
              <a:cxnLst/>
              <a:rect r="r" b="b" t="t" l="l"/>
              <a:pathLst>
                <a:path h="593373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2171"/>
                    <a:pt x="10258299" y="4849"/>
                  </a:cubicBezTo>
                  <a:lnTo>
                    <a:pt x="10258299" y="588486"/>
                  </a:lnTo>
                  <a:cubicBezTo>
                    <a:pt x="10258299" y="591163"/>
                    <a:pt x="10254488" y="593373"/>
                    <a:pt x="10249789" y="593373"/>
                  </a:cubicBezTo>
                  <a:lnTo>
                    <a:pt x="8509" y="593373"/>
                  </a:lnTo>
                  <a:cubicBezTo>
                    <a:pt x="3810" y="593373"/>
                    <a:pt x="0" y="591163"/>
                    <a:pt x="0" y="588486"/>
                  </a:cubicBezTo>
                  <a:lnTo>
                    <a:pt x="0" y="4849"/>
                  </a:lnTo>
                  <a:cubicBezTo>
                    <a:pt x="0" y="2171"/>
                    <a:pt x="3810" y="0"/>
                    <a:pt x="8509" y="0"/>
                  </a:cubicBezTo>
                  <a:moveTo>
                    <a:pt x="8509" y="9626"/>
                  </a:moveTo>
                  <a:lnTo>
                    <a:pt x="8509" y="4849"/>
                  </a:lnTo>
                  <a:lnTo>
                    <a:pt x="17018" y="4849"/>
                  </a:lnTo>
                  <a:lnTo>
                    <a:pt x="17018" y="588486"/>
                  </a:lnTo>
                  <a:lnTo>
                    <a:pt x="8509" y="588486"/>
                  </a:lnTo>
                  <a:lnTo>
                    <a:pt x="8509" y="583636"/>
                  </a:lnTo>
                  <a:lnTo>
                    <a:pt x="10249789" y="583636"/>
                  </a:lnTo>
                  <a:lnTo>
                    <a:pt x="10249789" y="588486"/>
                  </a:lnTo>
                  <a:lnTo>
                    <a:pt x="10241280" y="588486"/>
                  </a:lnTo>
                  <a:lnTo>
                    <a:pt x="10241280" y="4849"/>
                  </a:lnTo>
                  <a:lnTo>
                    <a:pt x="10249789" y="4849"/>
                  </a:lnTo>
                  <a:lnTo>
                    <a:pt x="10249789" y="9698"/>
                  </a:lnTo>
                  <a:lnTo>
                    <a:pt x="8509" y="969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09760" y="4584913"/>
            <a:ext cx="2743200" cy="396039"/>
            <a:chOff x="0" y="0"/>
            <a:chExt cx="3657600" cy="5280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657600" cy="56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 Code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148823" y="4556833"/>
            <a:ext cx="61979" cy="452204"/>
            <a:chOff x="0" y="0"/>
            <a:chExt cx="82639" cy="60293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252960" y="4584913"/>
            <a:ext cx="4754880" cy="396039"/>
            <a:chOff x="0" y="0"/>
            <a:chExt cx="6339840" cy="5280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e.g. 0x0007 = 'Class 3 frame from unassoc station'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99270" y="5074317"/>
            <a:ext cx="7719060" cy="459440"/>
            <a:chOff x="0" y="0"/>
            <a:chExt cx="10292080" cy="61258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14475"/>
              <a:ext cx="10241280" cy="583636"/>
            </a:xfrm>
            <a:custGeom>
              <a:avLst/>
              <a:gdLst/>
              <a:ahLst/>
              <a:cxnLst/>
              <a:rect r="r" b="b" t="t" l="l"/>
              <a:pathLst>
                <a:path h="5836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3637"/>
                  </a:lnTo>
                  <a:lnTo>
                    <a:pt x="0" y="583637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92080" cy="612587"/>
            </a:xfrm>
            <a:custGeom>
              <a:avLst/>
              <a:gdLst/>
              <a:ahLst/>
              <a:cxnLst/>
              <a:rect r="r" b="b" t="t" l="l"/>
              <a:pathLst>
                <a:path h="612587" w="10292080">
                  <a:moveTo>
                    <a:pt x="25400" y="0"/>
                  </a:moveTo>
                  <a:lnTo>
                    <a:pt x="10266680" y="0"/>
                  </a:lnTo>
                  <a:cubicBezTo>
                    <a:pt x="10280650" y="0"/>
                    <a:pt x="10292080" y="6514"/>
                    <a:pt x="10292080" y="14475"/>
                  </a:cubicBezTo>
                  <a:lnTo>
                    <a:pt x="10292080" y="598112"/>
                  </a:lnTo>
                  <a:cubicBezTo>
                    <a:pt x="10292080" y="606073"/>
                    <a:pt x="10280650" y="612587"/>
                    <a:pt x="10266680" y="612587"/>
                  </a:cubicBezTo>
                  <a:lnTo>
                    <a:pt x="25400" y="612587"/>
                  </a:lnTo>
                  <a:cubicBezTo>
                    <a:pt x="11430" y="612587"/>
                    <a:pt x="0" y="606073"/>
                    <a:pt x="0" y="598112"/>
                  </a:cubicBezTo>
                  <a:lnTo>
                    <a:pt x="0" y="14475"/>
                  </a:lnTo>
                  <a:cubicBezTo>
                    <a:pt x="0" y="6514"/>
                    <a:pt x="11430" y="0"/>
                    <a:pt x="25400" y="0"/>
                  </a:cubicBezTo>
                  <a:moveTo>
                    <a:pt x="25400" y="28950"/>
                  </a:moveTo>
                  <a:lnTo>
                    <a:pt x="25400" y="14475"/>
                  </a:lnTo>
                  <a:lnTo>
                    <a:pt x="50800" y="14475"/>
                  </a:lnTo>
                  <a:lnTo>
                    <a:pt x="50800" y="598112"/>
                  </a:lnTo>
                  <a:lnTo>
                    <a:pt x="25400" y="598112"/>
                  </a:lnTo>
                  <a:lnTo>
                    <a:pt x="25400" y="583636"/>
                  </a:lnTo>
                  <a:lnTo>
                    <a:pt x="10266680" y="583636"/>
                  </a:lnTo>
                  <a:lnTo>
                    <a:pt x="10266680" y="598112"/>
                  </a:lnTo>
                  <a:lnTo>
                    <a:pt x="10241280" y="598112"/>
                  </a:lnTo>
                  <a:lnTo>
                    <a:pt x="10241280" y="14475"/>
                  </a:lnTo>
                  <a:lnTo>
                    <a:pt x="10266680" y="14475"/>
                  </a:lnTo>
                  <a:lnTo>
                    <a:pt x="10266680" y="28950"/>
                  </a:lnTo>
                  <a:lnTo>
                    <a:pt x="25400" y="2895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509760" y="5106017"/>
            <a:ext cx="2743200" cy="396039"/>
            <a:chOff x="0" y="0"/>
            <a:chExt cx="3657600" cy="5280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528052"/>
            </a:xfrm>
            <a:custGeom>
              <a:avLst/>
              <a:gdLst/>
              <a:ahLst/>
              <a:cxnLst/>
              <a:rect r="r" b="b" t="t" l="l"/>
              <a:pathLst>
                <a:path h="5280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28" r="0" b="-12270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3657600" cy="547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⚠ No Signature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148823" y="5077937"/>
            <a:ext cx="61979" cy="452204"/>
            <a:chOff x="0" y="0"/>
            <a:chExt cx="82639" cy="60293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9626"/>
              <a:ext cx="48768" cy="583636"/>
            </a:xfrm>
            <a:custGeom>
              <a:avLst/>
              <a:gdLst/>
              <a:ahLst/>
              <a:cxnLst/>
              <a:rect r="r" b="b" t="t" l="l"/>
              <a:pathLst>
                <a:path h="583636" w="48768">
                  <a:moveTo>
                    <a:pt x="0" y="0"/>
                  </a:moveTo>
                  <a:lnTo>
                    <a:pt x="48768" y="0"/>
                  </a:lnTo>
                  <a:lnTo>
                    <a:pt x="48768" y="583636"/>
                  </a:lnTo>
                  <a:lnTo>
                    <a:pt x="0" y="5836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2550" cy="602890"/>
            </a:xfrm>
            <a:custGeom>
              <a:avLst/>
              <a:gdLst/>
              <a:ahLst/>
              <a:cxnLst/>
              <a:rect r="r" b="b" t="t" l="l"/>
              <a:pathLst>
                <a:path h="602890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4343"/>
                    <a:pt x="82550" y="9626"/>
                  </a:cubicBezTo>
                  <a:lnTo>
                    <a:pt x="82550" y="593262"/>
                  </a:lnTo>
                  <a:cubicBezTo>
                    <a:pt x="82550" y="598618"/>
                    <a:pt x="74930" y="602888"/>
                    <a:pt x="65659" y="602888"/>
                  </a:cubicBezTo>
                  <a:lnTo>
                    <a:pt x="16891" y="602888"/>
                  </a:lnTo>
                  <a:cubicBezTo>
                    <a:pt x="7620" y="602977"/>
                    <a:pt x="0" y="598618"/>
                    <a:pt x="0" y="593262"/>
                  </a:cubicBezTo>
                  <a:lnTo>
                    <a:pt x="0" y="9626"/>
                  </a:lnTo>
                  <a:cubicBezTo>
                    <a:pt x="0" y="4343"/>
                    <a:pt x="7620" y="0"/>
                    <a:pt x="16891" y="0"/>
                  </a:cubicBezTo>
                  <a:moveTo>
                    <a:pt x="16891" y="19324"/>
                  </a:moveTo>
                  <a:lnTo>
                    <a:pt x="16891" y="9626"/>
                  </a:lnTo>
                  <a:lnTo>
                    <a:pt x="33909" y="9626"/>
                  </a:lnTo>
                  <a:lnTo>
                    <a:pt x="33909" y="593262"/>
                  </a:lnTo>
                  <a:lnTo>
                    <a:pt x="16891" y="593262"/>
                  </a:lnTo>
                  <a:lnTo>
                    <a:pt x="16891" y="583636"/>
                  </a:lnTo>
                  <a:lnTo>
                    <a:pt x="65659" y="583636"/>
                  </a:lnTo>
                  <a:lnTo>
                    <a:pt x="65659" y="593262"/>
                  </a:lnTo>
                  <a:lnTo>
                    <a:pt x="48768" y="593262"/>
                  </a:lnTo>
                  <a:lnTo>
                    <a:pt x="48768" y="9626"/>
                  </a:lnTo>
                  <a:lnTo>
                    <a:pt x="65659" y="9626"/>
                  </a:lnTo>
                  <a:lnTo>
                    <a:pt x="65659" y="19324"/>
                  </a:lnTo>
                  <a:lnTo>
                    <a:pt x="16891" y="1932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252960" y="5106017"/>
            <a:ext cx="4754880" cy="396039"/>
            <a:chOff x="0" y="0"/>
            <a:chExt cx="6339840" cy="5280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39840" cy="528052"/>
            </a:xfrm>
            <a:custGeom>
              <a:avLst/>
              <a:gdLst/>
              <a:ahLst/>
              <a:cxnLst/>
              <a:rect r="r" b="b" t="t" l="l"/>
              <a:pathLst>
                <a:path h="5280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28052"/>
                  </a:lnTo>
                  <a:lnTo>
                    <a:pt x="0" y="528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202" r="0" b="-22167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6339840" cy="55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Nothing to verify who sent this frame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6093440" y="1866634"/>
            <a:ext cx="1005840" cy="573214"/>
            <a:chOff x="0" y="0"/>
            <a:chExt cx="1341120" cy="764286"/>
          </a:xfrm>
        </p:grpSpPr>
        <p:sp>
          <p:nvSpPr>
            <p:cNvPr name="Freeform 102" id="102" descr="preencoded.png"/>
            <p:cNvSpPr/>
            <p:nvPr/>
          </p:nvSpPr>
          <p:spPr>
            <a:xfrm flipH="false" flipV="false" rot="0">
              <a:off x="0" y="0"/>
              <a:ext cx="1341120" cy="764286"/>
            </a:xfrm>
            <a:custGeom>
              <a:avLst/>
              <a:gdLst/>
              <a:ahLst/>
              <a:cxnLst/>
              <a:rect r="r" b="b" t="t" l="l"/>
              <a:pathLst>
                <a:path h="76428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64286"/>
                  </a:lnTo>
                  <a:lnTo>
                    <a:pt x="0" y="764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6" r="0" b="-37736"/>
              </a:stretch>
            </a:blipFill>
          </p:spPr>
        </p:sp>
      </p:grpSp>
      <p:sp>
        <p:nvSpPr>
          <p:cNvPr name="Freeform 103" id="103"/>
          <p:cNvSpPr/>
          <p:nvPr/>
        </p:nvSpPr>
        <p:spPr>
          <a:xfrm flipH="false" flipV="false" rot="0">
            <a:off x="9198869" y="6383935"/>
            <a:ext cx="8234456" cy="3395055"/>
          </a:xfrm>
          <a:custGeom>
            <a:avLst/>
            <a:gdLst/>
            <a:ahLst/>
            <a:cxnLst/>
            <a:rect r="r" b="b" t="t" l="l"/>
            <a:pathLst>
              <a:path h="3395055" w="8234456">
                <a:moveTo>
                  <a:pt x="0" y="0"/>
                </a:moveTo>
                <a:lnTo>
                  <a:pt x="8234456" y="0"/>
                </a:lnTo>
                <a:lnTo>
                  <a:pt x="8234456" y="3395055"/>
                </a:lnTo>
                <a:lnTo>
                  <a:pt x="0" y="3395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91" t="-6564" r="-1281" b="-104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4" id="104"/>
          <p:cNvSpPr txBox="true"/>
          <p:nvPr/>
        </p:nvSpPr>
        <p:spPr>
          <a:xfrm rot="0">
            <a:off x="1097280" y="3495080"/>
            <a:ext cx="7132320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Wi-Fi communication is split into three frame types: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Frames</a:t>
            </a: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carry actual traffic (websites, videos, etc.)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Frames</a:t>
            </a: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low-level channel management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Management Frames</a:t>
            </a: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connection lifecycle (associate, probe, authenticate, </a:t>
            </a:r>
            <a:r>
              <a:rPr lang="en-US" sz="2200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DEAUTHENTICATE</a:t>
            </a: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critical flaw: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In 802.11 (up to WPA2), management frames carry NO cryptographic signature. There is nothing preventing anyone from </a:t>
            </a:r>
            <a:r>
              <a:rPr lang="en-US" b="true" sz="2200" i="true">
                <a:solidFill>
                  <a:srgbClr val="EF444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forging</a:t>
            </a: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them.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 Deauthentication frame is simply the router saying to a client: "you are disconnected." Since it's unsigned, anyone can send one.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#1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0584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Deauthentication Attack — Attack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6523" y="2240280"/>
            <a:ext cx="3640745" cy="2246416"/>
            <a:chOff x="0" y="0"/>
            <a:chExt cx="4456849" cy="2749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0353" y="2254120"/>
            <a:ext cx="3613087" cy="724833"/>
            <a:chOff x="0" y="0"/>
            <a:chExt cx="4422991" cy="88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84182" y="2267949"/>
            <a:ext cx="995949" cy="697165"/>
            <a:chOff x="0" y="0"/>
            <a:chExt cx="12192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80536" y="2307787"/>
            <a:ext cx="2589468" cy="637408"/>
            <a:chOff x="0" y="0"/>
            <a:chExt cx="316992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 Mode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57383" y="3411159"/>
            <a:ext cx="298784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airmon-ng start wlan0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NIC listens to all traffic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736271" y="2240280"/>
            <a:ext cx="3640745" cy="2246416"/>
            <a:chOff x="0" y="0"/>
            <a:chExt cx="4456849" cy="27499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50100" y="2254120"/>
            <a:ext cx="3613087" cy="724833"/>
            <a:chOff x="0" y="0"/>
            <a:chExt cx="4422991" cy="8873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63929" y="2267949"/>
            <a:ext cx="995949" cy="697165"/>
            <a:chOff x="0" y="0"/>
            <a:chExt cx="121920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60283" y="2307787"/>
            <a:ext cx="2589468" cy="637408"/>
            <a:chOff x="0" y="0"/>
            <a:chExt cx="316992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Passive Scan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062714" y="3411159"/>
            <a:ext cx="2987848" cy="55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airodump-ng wlan0mon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Capture beacon frames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716018" y="2240280"/>
            <a:ext cx="3640745" cy="2246416"/>
            <a:chOff x="0" y="0"/>
            <a:chExt cx="4456849" cy="27499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729847" y="2254120"/>
            <a:ext cx="3613087" cy="724833"/>
            <a:chOff x="0" y="0"/>
            <a:chExt cx="4422991" cy="887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743676" y="2267949"/>
            <a:ext cx="995949" cy="697165"/>
            <a:chOff x="0" y="0"/>
            <a:chExt cx="12192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40030" y="2307787"/>
            <a:ext cx="2589468" cy="637408"/>
            <a:chOff x="0" y="0"/>
            <a:chExt cx="316992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 Targets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063210" y="3411159"/>
            <a:ext cx="2987848" cy="55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Pick AP BSSID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 Client MAC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721475" y="5825698"/>
            <a:ext cx="3640745" cy="2246416"/>
            <a:chOff x="0" y="0"/>
            <a:chExt cx="4456849" cy="274996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735304" y="5839527"/>
            <a:ext cx="3613087" cy="724833"/>
            <a:chOff x="0" y="0"/>
            <a:chExt cx="4422991" cy="8873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8B5CF6">
                <a:alpha val="1961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749143" y="5853367"/>
            <a:ext cx="995949" cy="697165"/>
            <a:chOff x="0" y="0"/>
            <a:chExt cx="12192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45498" y="5893205"/>
            <a:ext cx="2589468" cy="637408"/>
            <a:chOff x="0" y="0"/>
            <a:chExt cx="316992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Forge Deauth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063210" y="6890062"/>
            <a:ext cx="2987848" cy="55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Craft frame with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spoofed source MAC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736271" y="5825698"/>
            <a:ext cx="3640745" cy="2246416"/>
            <a:chOff x="0" y="0"/>
            <a:chExt cx="4456849" cy="274996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750100" y="5839527"/>
            <a:ext cx="3613087" cy="724833"/>
            <a:chOff x="0" y="0"/>
            <a:chExt cx="4422991" cy="8873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763929" y="5853367"/>
            <a:ext cx="995949" cy="697165"/>
            <a:chOff x="0" y="0"/>
            <a:chExt cx="1219200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660283" y="5893205"/>
            <a:ext cx="2589468" cy="637408"/>
            <a:chOff x="0" y="0"/>
            <a:chExt cx="316992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Inject Frames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7062714" y="6890062"/>
            <a:ext cx="2987848" cy="55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aireplay-ng -0 0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Continuous flood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751066" y="5825698"/>
            <a:ext cx="3640745" cy="2246416"/>
            <a:chOff x="0" y="0"/>
            <a:chExt cx="4456849" cy="274996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3909" y="33909"/>
              <a:ext cx="4389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569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4456938">
                  <a:moveTo>
                    <a:pt x="33909" y="0"/>
                  </a:moveTo>
                  <a:lnTo>
                    <a:pt x="4423029" y="0"/>
                  </a:lnTo>
                  <a:cubicBezTo>
                    <a:pt x="4441698" y="0"/>
                    <a:pt x="4456938" y="15113"/>
                    <a:pt x="4456938" y="33909"/>
                  </a:cubicBezTo>
                  <a:lnTo>
                    <a:pt x="4456938" y="2716149"/>
                  </a:lnTo>
                  <a:cubicBezTo>
                    <a:pt x="4456938" y="2734818"/>
                    <a:pt x="4441825" y="2750058"/>
                    <a:pt x="44230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4423029" y="2682240"/>
                  </a:lnTo>
                  <a:lnTo>
                    <a:pt x="4423029" y="2716149"/>
                  </a:lnTo>
                  <a:lnTo>
                    <a:pt x="4389120" y="2716149"/>
                  </a:lnTo>
                  <a:lnTo>
                    <a:pt x="4389120" y="33909"/>
                  </a:lnTo>
                  <a:lnTo>
                    <a:pt x="4423029" y="33909"/>
                  </a:lnTo>
                  <a:lnTo>
                    <a:pt x="4423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764896" y="5839527"/>
            <a:ext cx="3613087" cy="724833"/>
            <a:chOff x="0" y="0"/>
            <a:chExt cx="4422991" cy="8873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22902" cy="887224"/>
            </a:xfrm>
            <a:custGeom>
              <a:avLst/>
              <a:gdLst/>
              <a:ahLst/>
              <a:cxnLst/>
              <a:rect r="r" b="b" t="t" l="l"/>
              <a:pathLst>
                <a:path h="887224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70331"/>
                  </a:lnTo>
                  <a:cubicBezTo>
                    <a:pt x="4422902" y="879729"/>
                    <a:pt x="4415282" y="887222"/>
                    <a:pt x="44060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4406011" y="853440"/>
                  </a:lnTo>
                  <a:lnTo>
                    <a:pt x="4406011" y="870331"/>
                  </a:lnTo>
                  <a:lnTo>
                    <a:pt x="4389120" y="87033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778725" y="5853367"/>
            <a:ext cx="995949" cy="697165"/>
            <a:chOff x="0" y="0"/>
            <a:chExt cx="121920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219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675079" y="5893205"/>
            <a:ext cx="2589468" cy="637408"/>
            <a:chOff x="0" y="0"/>
            <a:chExt cx="3169920" cy="7802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Drops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2077515" y="6931560"/>
            <a:ext cx="2987848" cy="55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Victim disconnects</a:t>
            </a:r>
          </a:p>
          <a:p>
            <a:pPr algn="ctr">
              <a:lnSpc>
                <a:spcPts val="2091"/>
              </a:lnSpc>
            </a:pPr>
            <a:r>
              <a:rPr lang="en-US" sz="1742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Cannot reconnect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5348851" y="3342744"/>
            <a:ext cx="1435827" cy="41498"/>
            <a:chOff x="0" y="0"/>
            <a:chExt cx="1757680" cy="50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0"/>
              <a:ext cx="1706880" cy="50800"/>
            </a:xfrm>
            <a:custGeom>
              <a:avLst/>
              <a:gdLst/>
              <a:ahLst/>
              <a:cxnLst/>
              <a:rect r="r" b="b" t="t" l="l"/>
              <a:pathLst>
                <a:path h="50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328598" y="3342744"/>
            <a:ext cx="1435827" cy="41498"/>
            <a:chOff x="0" y="0"/>
            <a:chExt cx="1757680" cy="50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25400" y="0"/>
              <a:ext cx="1706880" cy="50800"/>
            </a:xfrm>
            <a:custGeom>
              <a:avLst/>
              <a:gdLst/>
              <a:ahLst/>
              <a:cxnLst/>
              <a:rect r="r" b="b" t="t" l="l"/>
              <a:pathLst>
                <a:path h="50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515636" y="4438288"/>
            <a:ext cx="41498" cy="1435827"/>
            <a:chOff x="0" y="0"/>
            <a:chExt cx="50800" cy="17576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328598" y="6928162"/>
            <a:ext cx="41498" cy="41498"/>
            <a:chOff x="0" y="0"/>
            <a:chExt cx="50800" cy="50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25400" y="0"/>
              <a:ext cx="0" cy="50800"/>
            </a:xfrm>
            <a:custGeom>
              <a:avLst/>
              <a:gdLst/>
              <a:ahLst/>
              <a:cxnLst/>
              <a:rect r="r" b="b" t="t" l="l"/>
              <a:pathLst>
                <a:path h="50800" w="0">
                  <a:moveTo>
                    <a:pt x="0" y="0"/>
                  </a:move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313812" y="6928162"/>
            <a:ext cx="41498" cy="41498"/>
            <a:chOff x="0" y="0"/>
            <a:chExt cx="50800" cy="50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25400" y="0"/>
              <a:ext cx="0" cy="50800"/>
            </a:xfrm>
            <a:custGeom>
              <a:avLst/>
              <a:gdLst/>
              <a:ahLst/>
              <a:cxnLst/>
              <a:rect r="r" b="b" t="t" l="l"/>
              <a:pathLst>
                <a:path h="50800" w="0">
                  <a:moveTo>
                    <a:pt x="0" y="0"/>
                  </a:move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718823" y="8765543"/>
            <a:ext cx="16850363" cy="1122683"/>
            <a:chOff x="0" y="0"/>
            <a:chExt cx="22467151" cy="149691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467063" cy="1496822"/>
            </a:xfrm>
            <a:custGeom>
              <a:avLst/>
              <a:gdLst/>
              <a:ahLst/>
              <a:cxnLst/>
              <a:rect r="r" b="b" t="t" l="l"/>
              <a:pathLst>
                <a:path h="149682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479931"/>
                  </a:lnTo>
                  <a:cubicBezTo>
                    <a:pt x="22467063" y="1489329"/>
                    <a:pt x="22459443" y="1496822"/>
                    <a:pt x="2245017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2450171" y="1463040"/>
                  </a:lnTo>
                  <a:lnTo>
                    <a:pt x="22450171" y="1479931"/>
                  </a:lnTo>
                  <a:lnTo>
                    <a:pt x="22433280" y="14799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718823" y="8765543"/>
            <a:ext cx="135131" cy="1122683"/>
            <a:chOff x="0" y="0"/>
            <a:chExt cx="180175" cy="149691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88720" y="8924544"/>
            <a:ext cx="15910560" cy="804672"/>
            <a:chOff x="0" y="0"/>
            <a:chExt cx="21214080" cy="107289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2140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272" r="0" b="-33527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121408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Command: sudo aireplay-ng -0 0 -a [AP_BSSID] -c [CLIENT_MAC] wlan0mon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348851" y="7276744"/>
            <a:ext cx="1435827" cy="41498"/>
            <a:chOff x="0" y="0"/>
            <a:chExt cx="1757680" cy="50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25400" y="0"/>
              <a:ext cx="1706880" cy="50800"/>
            </a:xfrm>
            <a:custGeom>
              <a:avLst/>
              <a:gdLst/>
              <a:ahLst/>
              <a:cxnLst/>
              <a:rect r="r" b="b" t="t" l="l"/>
              <a:pathLst>
                <a:path h="50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328598" y="7276744"/>
            <a:ext cx="1435827" cy="41498"/>
            <a:chOff x="0" y="0"/>
            <a:chExt cx="1757680" cy="508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25400" y="0"/>
              <a:ext cx="1706880" cy="50800"/>
            </a:xfrm>
            <a:custGeom>
              <a:avLst/>
              <a:gdLst/>
              <a:ahLst/>
              <a:cxnLst/>
              <a:rect r="r" b="b" t="t" l="l"/>
              <a:pathLst>
                <a:path h="508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#2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0584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Evil Twin — A Rogue Access Point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364743"/>
            <a:ext cx="7889243" cy="7340603"/>
            <a:chOff x="0" y="0"/>
            <a:chExt cx="10518991" cy="978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9787382"/>
            </a:xfrm>
            <a:custGeom>
              <a:avLst/>
              <a:gdLst/>
              <a:ahLst/>
              <a:cxnLst/>
              <a:rect r="r" b="b" t="t" l="l"/>
              <a:pathLst>
                <a:path h="97873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9770491"/>
                  </a:lnTo>
                  <a:cubicBezTo>
                    <a:pt x="10518901" y="9779889"/>
                    <a:pt x="10511282" y="9787382"/>
                    <a:pt x="1050201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0502011" y="9753600"/>
                  </a:lnTo>
                  <a:lnTo>
                    <a:pt x="10502011" y="9770491"/>
                  </a:lnTo>
                  <a:lnTo>
                    <a:pt x="10485120" y="97704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364743"/>
            <a:ext cx="135131" cy="7340603"/>
            <a:chOff x="0" y="0"/>
            <a:chExt cx="180175" cy="97874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9787382"/>
            </a:xfrm>
            <a:custGeom>
              <a:avLst/>
              <a:gdLst/>
              <a:ahLst/>
              <a:cxnLst/>
              <a:rect r="r" b="b" t="t" l="l"/>
              <a:pathLst>
                <a:path h="97873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9770491"/>
                  </a:lnTo>
                  <a:cubicBezTo>
                    <a:pt x="180086" y="9779889"/>
                    <a:pt x="172466" y="9787382"/>
                    <a:pt x="163195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63195" y="9753600"/>
                  </a:lnTo>
                  <a:lnTo>
                    <a:pt x="163195" y="9770491"/>
                  </a:lnTo>
                  <a:lnTo>
                    <a:pt x="146304" y="97704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3856" y="2596896"/>
            <a:ext cx="6949440" cy="640080"/>
            <a:chOff x="0" y="0"/>
            <a:chExt cx="92659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Concept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88720" y="3085471"/>
            <a:ext cx="7286847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An Evil Twin is a rogue Wi-Fi access point that </a:t>
            </a:r>
            <a:r>
              <a:rPr lang="en-US" sz="24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impersonates a legitimate network</a:t>
            </a:r>
            <a:r>
              <a:rPr lang="en-US" sz="24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by broadcasting the same SSID (network name).</a:t>
            </a:r>
          </a:p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works: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Devices auto-connect to known SSIDs. If two networks have the same name, the device picks the one with the </a:t>
            </a:r>
            <a:r>
              <a:rPr lang="en-US" sz="2499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stronger signal</a:t>
            </a:r>
            <a:r>
              <a:rPr lang="en-US" sz="24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. The attacker can boost their radio power to win.</a:t>
            </a:r>
          </a:p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the attacker gains: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Once connected, the victim's traffic goes through the attacker's AP. This enables:</a:t>
            </a:r>
          </a:p>
          <a:p>
            <a:pPr algn="l">
              <a:lnSpc>
                <a:spcPts val="1319"/>
              </a:lnSpc>
            </a:pPr>
            <a:r>
              <a:rPr lang="en-US" sz="1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 marL="554989" indent="-27749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 Traffic interception (MITM)</a:t>
            </a:r>
          </a:p>
          <a:p>
            <a:pPr algn="l" marL="554989" indent="-277494" lvl="1">
              <a:lnSpc>
                <a:spcPts val="2759"/>
              </a:lnSpc>
              <a:buFont typeface="Arial"/>
              <a:buChar char="•"/>
            </a:pPr>
            <a:r>
              <a:rPr lang="en-US" b="true" sz="2299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Captive portal — fake login page harvesting credentials</a:t>
            </a:r>
          </a:p>
          <a:p>
            <a:pPr algn="l" marL="554989" indent="-27749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 DNS spoofing — redirect to phishing sites</a:t>
            </a:r>
          </a:p>
          <a:p>
            <a:pPr algn="l" marL="554989" indent="-27749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 SSL stripping (if HSTS not enforced)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48423" y="2364743"/>
            <a:ext cx="8620763" cy="7340603"/>
            <a:chOff x="0" y="0"/>
            <a:chExt cx="11494351" cy="97874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460481" cy="9753600"/>
            </a:xfrm>
            <a:custGeom>
              <a:avLst/>
              <a:gdLst/>
              <a:ahLst/>
              <a:cxnLst/>
              <a:rect r="r" b="b" t="t" l="l"/>
              <a:pathLst>
                <a:path h="975360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9426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9770491"/>
                  </a:lnTo>
                  <a:cubicBezTo>
                    <a:pt x="11494262" y="9779889"/>
                    <a:pt x="11486642" y="9787382"/>
                    <a:pt x="11477372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1477372" y="9753600"/>
                  </a:lnTo>
                  <a:lnTo>
                    <a:pt x="11477372" y="9770491"/>
                  </a:lnTo>
                  <a:lnTo>
                    <a:pt x="11460480" y="977049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48423" y="2364743"/>
            <a:ext cx="135131" cy="7340603"/>
            <a:chOff x="0" y="0"/>
            <a:chExt cx="180175" cy="9787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9787382"/>
            </a:xfrm>
            <a:custGeom>
              <a:avLst/>
              <a:gdLst/>
              <a:ahLst/>
              <a:cxnLst/>
              <a:rect r="r" b="b" t="t" l="l"/>
              <a:pathLst>
                <a:path h="97873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9770491"/>
                  </a:lnTo>
                  <a:cubicBezTo>
                    <a:pt x="180086" y="9779889"/>
                    <a:pt x="172466" y="9787382"/>
                    <a:pt x="163195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63195" y="9753600"/>
                  </a:lnTo>
                  <a:lnTo>
                    <a:pt x="163195" y="9770491"/>
                  </a:lnTo>
                  <a:lnTo>
                    <a:pt x="146304" y="97704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26880" y="2596896"/>
            <a:ext cx="7680960" cy="640080"/>
            <a:chOff x="0" y="0"/>
            <a:chExt cx="1024128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AP  vs  Evil Twin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07830" y="3364230"/>
            <a:ext cx="3512820" cy="2964180"/>
            <a:chOff x="0" y="0"/>
            <a:chExt cx="4683760" cy="3952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4632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8376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683760">
                  <a:moveTo>
                    <a:pt x="25400" y="0"/>
                  </a:moveTo>
                  <a:lnTo>
                    <a:pt x="4658360" y="0"/>
                  </a:lnTo>
                  <a:cubicBezTo>
                    <a:pt x="4672330" y="0"/>
                    <a:pt x="4683760" y="11430"/>
                    <a:pt x="4683760" y="25400"/>
                  </a:cubicBezTo>
                  <a:lnTo>
                    <a:pt x="4683760" y="3926840"/>
                  </a:lnTo>
                  <a:cubicBezTo>
                    <a:pt x="4683760" y="3940810"/>
                    <a:pt x="4672330" y="3952240"/>
                    <a:pt x="465836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658360" y="3901440"/>
                  </a:lnTo>
                  <a:lnTo>
                    <a:pt x="4658360" y="3926840"/>
                  </a:lnTo>
                  <a:lnTo>
                    <a:pt x="4632960" y="3926840"/>
                  </a:lnTo>
                  <a:lnTo>
                    <a:pt x="4632960" y="25400"/>
                  </a:lnTo>
                  <a:lnTo>
                    <a:pt x="4658360" y="25400"/>
                  </a:lnTo>
                  <a:lnTo>
                    <a:pt x="4658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26880" y="3438144"/>
            <a:ext cx="3474720" cy="512064"/>
            <a:chOff x="0" y="0"/>
            <a:chExt cx="463296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AP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68270" y="4023360"/>
            <a:ext cx="1097280" cy="1097280"/>
            <a:chOff x="0" y="0"/>
            <a:chExt cx="1463040" cy="146304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5212080"/>
            <a:ext cx="3474720" cy="1005840"/>
            <a:chOff x="0" y="0"/>
            <a:chExt cx="463296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11" r="0" b="-173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632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SSID: HomeNet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Auth: WPA2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10160" y="4389120"/>
            <a:ext cx="1005840" cy="914400"/>
            <a:chOff x="0" y="0"/>
            <a:chExt cx="134112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605510" y="3364230"/>
            <a:ext cx="3512820" cy="2964180"/>
            <a:chOff x="0" y="0"/>
            <a:chExt cx="4683760" cy="3952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4632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8376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683760">
                  <a:moveTo>
                    <a:pt x="25400" y="0"/>
                  </a:moveTo>
                  <a:lnTo>
                    <a:pt x="4658360" y="0"/>
                  </a:lnTo>
                  <a:cubicBezTo>
                    <a:pt x="4672330" y="0"/>
                    <a:pt x="4683760" y="11430"/>
                    <a:pt x="4683760" y="25400"/>
                  </a:cubicBezTo>
                  <a:lnTo>
                    <a:pt x="4683760" y="3926840"/>
                  </a:lnTo>
                  <a:cubicBezTo>
                    <a:pt x="4683760" y="3940810"/>
                    <a:pt x="4672330" y="3952240"/>
                    <a:pt x="465836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658360" y="3901440"/>
                  </a:lnTo>
                  <a:lnTo>
                    <a:pt x="4658360" y="3926840"/>
                  </a:lnTo>
                  <a:lnTo>
                    <a:pt x="4632960" y="3926840"/>
                  </a:lnTo>
                  <a:lnTo>
                    <a:pt x="4632960" y="25400"/>
                  </a:lnTo>
                  <a:lnTo>
                    <a:pt x="4658360" y="25400"/>
                  </a:lnTo>
                  <a:lnTo>
                    <a:pt x="4658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624560" y="3438144"/>
            <a:ext cx="3474720" cy="512064"/>
            <a:chOff x="0" y="0"/>
            <a:chExt cx="46329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EVIL TWIN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765950" y="4023360"/>
            <a:ext cx="1097280" cy="1097280"/>
            <a:chOff x="0" y="0"/>
            <a:chExt cx="1463040" cy="146304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624560" y="5212080"/>
            <a:ext cx="3474720" cy="1005840"/>
            <a:chOff x="0" y="0"/>
            <a:chExt cx="463296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32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11" r="0" b="-1731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632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SSID: HomeNet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Auth: Open/WPA2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594343" y="6662423"/>
            <a:ext cx="5237483" cy="2402843"/>
            <a:chOff x="0" y="0"/>
            <a:chExt cx="6983311" cy="32037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69494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832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186811"/>
                  </a:lnTo>
                  <a:cubicBezTo>
                    <a:pt x="6983222" y="3196209"/>
                    <a:pt x="6975602" y="3203702"/>
                    <a:pt x="69663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6966331" y="3169920"/>
                  </a:lnTo>
                  <a:lnTo>
                    <a:pt x="6966331" y="3186811"/>
                  </a:lnTo>
                  <a:lnTo>
                    <a:pt x="6949440" y="318681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607040" y="6729984"/>
            <a:ext cx="5212080" cy="512064"/>
            <a:chOff x="0" y="0"/>
            <a:chExt cx="694944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DEVICE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29616" y="7278624"/>
            <a:ext cx="640080" cy="640080"/>
            <a:chOff x="0" y="0"/>
            <a:chExt cx="853440" cy="85344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698480" y="7923552"/>
            <a:ext cx="4937760" cy="1005840"/>
            <a:chOff x="0" y="0"/>
            <a:chExt cx="6583680" cy="1341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Sees two "HomeNet"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Connects to stronger signal (Our Evil Twin)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733520" y="365760"/>
            <a:ext cx="914400" cy="914400"/>
            <a:chOff x="0" y="0"/>
            <a:chExt cx="1219200" cy="12192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#2 —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0584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Evil Twin Attack — Step by Step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583437"/>
            <a:ext cx="2125056" cy="1879597"/>
            <a:chOff x="0" y="0"/>
            <a:chExt cx="2833408" cy="25061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6895" y="2596134"/>
            <a:ext cx="2108913" cy="610619"/>
            <a:chOff x="0" y="0"/>
            <a:chExt cx="2811883" cy="8141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8B5CF6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4967" y="2608840"/>
            <a:ext cx="581323" cy="585216"/>
            <a:chOff x="0" y="0"/>
            <a:chExt cx="775097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8158" y="2645416"/>
            <a:ext cx="1511440" cy="512064"/>
            <a:chOff x="0" y="0"/>
            <a:chExt cx="2015253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5253" cy="682752"/>
            </a:xfrm>
            <a:custGeom>
              <a:avLst/>
              <a:gdLst/>
              <a:ahLst/>
              <a:cxnLst/>
              <a:rect r="r" b="b" t="t" l="l"/>
              <a:pathLst>
                <a:path h="682752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-57296" b="-404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15253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Clone SSID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25438" y="2583437"/>
            <a:ext cx="2125056" cy="1879597"/>
            <a:chOff x="0" y="0"/>
            <a:chExt cx="2833408" cy="25061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33510" y="2596134"/>
            <a:ext cx="2108913" cy="610619"/>
            <a:chOff x="0" y="0"/>
            <a:chExt cx="2811883" cy="8141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641582" y="2608840"/>
            <a:ext cx="581323" cy="585216"/>
            <a:chOff x="0" y="0"/>
            <a:chExt cx="775097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64772" y="2590379"/>
            <a:ext cx="1511440" cy="622139"/>
            <a:chOff x="0" y="0"/>
            <a:chExt cx="2015253" cy="8295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5253" cy="829518"/>
            </a:xfrm>
            <a:custGeom>
              <a:avLst/>
              <a:gdLst/>
              <a:ahLst/>
              <a:cxnLst/>
              <a:rect r="r" b="b" t="t" l="l"/>
              <a:pathLst>
                <a:path h="829518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06" r="-57296" b="-156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15253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Broadcast Beacons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32053" y="2583437"/>
            <a:ext cx="2125056" cy="1879597"/>
            <a:chOff x="0" y="0"/>
            <a:chExt cx="2833408" cy="25061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40125" y="2596134"/>
            <a:ext cx="2108913" cy="610619"/>
            <a:chOff x="0" y="0"/>
            <a:chExt cx="2811883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548197" y="2608840"/>
            <a:ext cx="581323" cy="585216"/>
            <a:chOff x="0" y="0"/>
            <a:chExt cx="775097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71387" y="2645416"/>
            <a:ext cx="1511440" cy="512064"/>
            <a:chOff x="0" y="0"/>
            <a:chExt cx="2015253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5253" cy="682752"/>
            </a:xfrm>
            <a:custGeom>
              <a:avLst/>
              <a:gdLst/>
              <a:ahLst/>
              <a:cxnLst/>
              <a:rect r="r" b="b" t="t" l="l"/>
              <a:pathLst>
                <a:path h="682752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-57296" b="-404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15253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Deauth Real AP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532053" y="5911853"/>
            <a:ext cx="2125056" cy="1879597"/>
            <a:chOff x="0" y="0"/>
            <a:chExt cx="2833408" cy="25061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540125" y="5924550"/>
            <a:ext cx="2108913" cy="610619"/>
            <a:chOff x="0" y="0"/>
            <a:chExt cx="2811883" cy="8141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48197" y="5937256"/>
            <a:ext cx="581323" cy="585216"/>
            <a:chOff x="0" y="0"/>
            <a:chExt cx="775097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71387" y="5973832"/>
            <a:ext cx="1511440" cy="512064"/>
            <a:chOff x="0" y="0"/>
            <a:chExt cx="2015253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5253" cy="682752"/>
            </a:xfrm>
            <a:custGeom>
              <a:avLst/>
              <a:gdLst/>
              <a:ahLst/>
              <a:cxnLst/>
              <a:rect r="r" b="b" t="t" l="l"/>
              <a:pathLst>
                <a:path h="682752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-57296" b="-404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15253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Victim Scans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625438" y="5875277"/>
            <a:ext cx="2125056" cy="1879597"/>
            <a:chOff x="0" y="0"/>
            <a:chExt cx="2833408" cy="25061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633510" y="5887974"/>
            <a:ext cx="2108913" cy="610619"/>
            <a:chOff x="0" y="0"/>
            <a:chExt cx="2811883" cy="8141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641582" y="5900680"/>
            <a:ext cx="581323" cy="585216"/>
            <a:chOff x="0" y="0"/>
            <a:chExt cx="775097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164772" y="5882219"/>
            <a:ext cx="1511440" cy="622139"/>
            <a:chOff x="0" y="0"/>
            <a:chExt cx="2015253" cy="82951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15253" cy="829518"/>
            </a:xfrm>
            <a:custGeom>
              <a:avLst/>
              <a:gdLst/>
              <a:ahLst/>
              <a:cxnLst/>
              <a:rect r="r" b="b" t="t" l="l"/>
              <a:pathLst>
                <a:path h="829518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06" r="-57296" b="-156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15253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Auto-Reconnect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8823" y="5948429"/>
            <a:ext cx="2125056" cy="1879597"/>
            <a:chOff x="0" y="0"/>
            <a:chExt cx="2833408" cy="25061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1557" y="33909"/>
              <a:ext cx="27903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33497" cy="2506218"/>
            </a:xfrm>
            <a:custGeom>
              <a:avLst/>
              <a:gdLst/>
              <a:ahLst/>
              <a:cxnLst/>
              <a:rect r="r" b="b" t="t" l="l"/>
              <a:pathLst>
                <a:path h="2506218" w="2833497">
                  <a:moveTo>
                    <a:pt x="21557" y="0"/>
                  </a:moveTo>
                  <a:lnTo>
                    <a:pt x="2811908" y="0"/>
                  </a:lnTo>
                  <a:cubicBezTo>
                    <a:pt x="2823776" y="0"/>
                    <a:pt x="2833497" y="15113"/>
                    <a:pt x="2833497" y="33909"/>
                  </a:cubicBezTo>
                  <a:lnTo>
                    <a:pt x="2833497" y="2472309"/>
                  </a:lnTo>
                  <a:cubicBezTo>
                    <a:pt x="2833497" y="2490978"/>
                    <a:pt x="2823857" y="2506218"/>
                    <a:pt x="2811908" y="2506218"/>
                  </a:cubicBezTo>
                  <a:lnTo>
                    <a:pt x="21557" y="2506218"/>
                  </a:lnTo>
                  <a:cubicBezTo>
                    <a:pt x="9689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9608" y="0"/>
                    <a:pt x="21557" y="0"/>
                  </a:cubicBezTo>
                  <a:moveTo>
                    <a:pt x="21557" y="67691"/>
                  </a:moveTo>
                  <a:lnTo>
                    <a:pt x="21557" y="33909"/>
                  </a:lnTo>
                  <a:lnTo>
                    <a:pt x="43034" y="33909"/>
                  </a:lnTo>
                  <a:lnTo>
                    <a:pt x="43034" y="2472309"/>
                  </a:lnTo>
                  <a:lnTo>
                    <a:pt x="21557" y="2472309"/>
                  </a:lnTo>
                  <a:lnTo>
                    <a:pt x="21557" y="2438400"/>
                  </a:lnTo>
                  <a:lnTo>
                    <a:pt x="2811908" y="2438400"/>
                  </a:lnTo>
                  <a:lnTo>
                    <a:pt x="2811908" y="2472309"/>
                  </a:lnTo>
                  <a:lnTo>
                    <a:pt x="2790350" y="2472309"/>
                  </a:lnTo>
                  <a:lnTo>
                    <a:pt x="2790350" y="33909"/>
                  </a:lnTo>
                  <a:lnTo>
                    <a:pt x="2811908" y="33909"/>
                  </a:lnTo>
                  <a:lnTo>
                    <a:pt x="2811908" y="67691"/>
                  </a:lnTo>
                  <a:lnTo>
                    <a:pt x="21557" y="6769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26895" y="5961126"/>
            <a:ext cx="2108913" cy="610619"/>
            <a:chOff x="0" y="0"/>
            <a:chExt cx="2811883" cy="8141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0738" y="16891"/>
              <a:ext cx="2790350" cy="780288"/>
            </a:xfrm>
            <a:custGeom>
              <a:avLst/>
              <a:gdLst/>
              <a:ahLst/>
              <a:cxnLst/>
              <a:rect r="r" b="b" t="t" l="l"/>
              <a:pathLst>
                <a:path h="780288" w="2790350">
                  <a:moveTo>
                    <a:pt x="0" y="0"/>
                  </a:moveTo>
                  <a:lnTo>
                    <a:pt x="2790351" y="0"/>
                  </a:lnTo>
                  <a:lnTo>
                    <a:pt x="279035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11827" cy="814072"/>
            </a:xfrm>
            <a:custGeom>
              <a:avLst/>
              <a:gdLst/>
              <a:ahLst/>
              <a:cxnLst/>
              <a:rect r="r" b="b" t="t" l="l"/>
              <a:pathLst>
                <a:path h="814072" w="2811827">
                  <a:moveTo>
                    <a:pt x="10738" y="0"/>
                  </a:moveTo>
                  <a:lnTo>
                    <a:pt x="2801089" y="0"/>
                  </a:lnTo>
                  <a:cubicBezTo>
                    <a:pt x="2807063" y="0"/>
                    <a:pt x="2811827" y="7620"/>
                    <a:pt x="2811827" y="16891"/>
                  </a:cubicBezTo>
                  <a:lnTo>
                    <a:pt x="2811827" y="797179"/>
                  </a:lnTo>
                  <a:cubicBezTo>
                    <a:pt x="2811827" y="806577"/>
                    <a:pt x="2806983" y="814070"/>
                    <a:pt x="2801089" y="814070"/>
                  </a:cubicBezTo>
                  <a:lnTo>
                    <a:pt x="10738" y="814070"/>
                  </a:lnTo>
                  <a:cubicBezTo>
                    <a:pt x="4844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4844" y="0"/>
                    <a:pt x="10738" y="0"/>
                  </a:cubicBezTo>
                  <a:moveTo>
                    <a:pt x="10738" y="33909"/>
                  </a:moveTo>
                  <a:lnTo>
                    <a:pt x="10738" y="16891"/>
                  </a:lnTo>
                  <a:lnTo>
                    <a:pt x="21557" y="16891"/>
                  </a:lnTo>
                  <a:lnTo>
                    <a:pt x="21557" y="797179"/>
                  </a:lnTo>
                  <a:lnTo>
                    <a:pt x="10738" y="797179"/>
                  </a:lnTo>
                  <a:lnTo>
                    <a:pt x="10738" y="780288"/>
                  </a:lnTo>
                  <a:lnTo>
                    <a:pt x="2801089" y="780288"/>
                  </a:lnTo>
                  <a:lnTo>
                    <a:pt x="2801089" y="797179"/>
                  </a:lnTo>
                  <a:lnTo>
                    <a:pt x="2790350" y="797179"/>
                  </a:lnTo>
                  <a:lnTo>
                    <a:pt x="2790350" y="16891"/>
                  </a:lnTo>
                  <a:lnTo>
                    <a:pt x="2801089" y="16891"/>
                  </a:lnTo>
                  <a:lnTo>
                    <a:pt x="2801089" y="33909"/>
                  </a:lnTo>
                  <a:lnTo>
                    <a:pt x="10738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4967" y="5973832"/>
            <a:ext cx="581323" cy="585216"/>
            <a:chOff x="0" y="0"/>
            <a:chExt cx="775097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75097" cy="780288"/>
            </a:xfrm>
            <a:custGeom>
              <a:avLst/>
              <a:gdLst/>
              <a:ahLst/>
              <a:cxnLst/>
              <a:rect r="r" b="b" t="t" l="l"/>
              <a:pathLst>
                <a:path h="780288" w="775097">
                  <a:moveTo>
                    <a:pt x="0" y="0"/>
                  </a:moveTo>
                  <a:lnTo>
                    <a:pt x="775097" y="0"/>
                  </a:lnTo>
                  <a:lnTo>
                    <a:pt x="77509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514" t="0" r="-10781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75097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8158" y="6010408"/>
            <a:ext cx="1511440" cy="512064"/>
            <a:chOff x="0" y="0"/>
            <a:chExt cx="2015253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15253" cy="682752"/>
            </a:xfrm>
            <a:custGeom>
              <a:avLst/>
              <a:gdLst/>
              <a:ahLst/>
              <a:cxnLst/>
              <a:rect r="r" b="b" t="t" l="l"/>
              <a:pathLst>
                <a:path h="682752" w="2015253">
                  <a:moveTo>
                    <a:pt x="0" y="0"/>
                  </a:moveTo>
                  <a:lnTo>
                    <a:pt x="2015253" y="0"/>
                  </a:lnTo>
                  <a:lnTo>
                    <a:pt x="201525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-57296" b="-4046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015253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Captive Portal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815619" y="3504190"/>
            <a:ext cx="838074" cy="38100"/>
            <a:chOff x="0" y="0"/>
            <a:chExt cx="1117432" cy="50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148" y="0"/>
              <a:ext cx="1085136" cy="50800"/>
            </a:xfrm>
            <a:custGeom>
              <a:avLst/>
              <a:gdLst/>
              <a:ahLst/>
              <a:cxnLst/>
              <a:rect r="r" b="b" t="t" l="l"/>
              <a:pathLst>
                <a:path h="50800" w="1085136">
                  <a:moveTo>
                    <a:pt x="0" y="0"/>
                  </a:moveTo>
                  <a:lnTo>
                    <a:pt x="1085136" y="0"/>
                  </a:lnTo>
                  <a:lnTo>
                    <a:pt x="108513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722234" y="3504190"/>
            <a:ext cx="838074" cy="38100"/>
            <a:chOff x="0" y="0"/>
            <a:chExt cx="1117432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148" y="0"/>
              <a:ext cx="1085136" cy="50800"/>
            </a:xfrm>
            <a:custGeom>
              <a:avLst/>
              <a:gdLst/>
              <a:ahLst/>
              <a:cxnLst/>
              <a:rect r="r" b="b" t="t" l="l"/>
              <a:pathLst>
                <a:path h="50800" w="1085136">
                  <a:moveTo>
                    <a:pt x="0" y="0"/>
                  </a:moveTo>
                  <a:lnTo>
                    <a:pt x="1085136" y="0"/>
                  </a:lnTo>
                  <a:lnTo>
                    <a:pt x="108513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7559064" y="4436116"/>
            <a:ext cx="47625" cy="1501140"/>
            <a:chOff x="0" y="0"/>
            <a:chExt cx="63500" cy="200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25400"/>
              <a:ext cx="635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3500">
                  <a:moveTo>
                    <a:pt x="63500" y="0"/>
                  </a:moveTo>
                  <a:lnTo>
                    <a:pt x="635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698830" y="6796030"/>
            <a:ext cx="47625" cy="38100"/>
            <a:chOff x="0" y="0"/>
            <a:chExt cx="63500" cy="50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1750" y="0"/>
              <a:ext cx="0" cy="50800"/>
            </a:xfrm>
            <a:custGeom>
              <a:avLst/>
              <a:gdLst/>
              <a:ahLst/>
              <a:cxnLst/>
              <a:rect r="r" b="b" t="t" l="l"/>
              <a:pathLst>
                <a:path h="50800" w="0">
                  <a:moveTo>
                    <a:pt x="0" y="0"/>
                  </a:move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605445" y="6832606"/>
            <a:ext cx="47625" cy="38100"/>
            <a:chOff x="0" y="0"/>
            <a:chExt cx="63500" cy="50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31750" y="0"/>
              <a:ext cx="0" cy="50800"/>
            </a:xfrm>
            <a:custGeom>
              <a:avLst/>
              <a:gdLst/>
              <a:ahLst/>
              <a:cxnLst/>
              <a:rect r="r" b="b" t="t" l="l"/>
              <a:pathLst>
                <a:path h="50800" w="0">
                  <a:moveTo>
                    <a:pt x="0" y="0"/>
                  </a:move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18823" y="8399783"/>
            <a:ext cx="16850363" cy="1488443"/>
            <a:chOff x="0" y="0"/>
            <a:chExt cx="22467151" cy="198459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22433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467063" cy="1984502"/>
            </a:xfrm>
            <a:custGeom>
              <a:avLst/>
              <a:gdLst/>
              <a:ahLst/>
              <a:cxnLst/>
              <a:rect r="r" b="b" t="t" l="l"/>
              <a:pathLst>
                <a:path h="19845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67611"/>
                  </a:lnTo>
                  <a:cubicBezTo>
                    <a:pt x="22467063" y="1977009"/>
                    <a:pt x="22459443" y="1984502"/>
                    <a:pt x="22450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2450171" y="1950720"/>
                  </a:lnTo>
                  <a:lnTo>
                    <a:pt x="22450171" y="1967611"/>
                  </a:lnTo>
                  <a:lnTo>
                    <a:pt x="22433280" y="19676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18823" y="8399783"/>
            <a:ext cx="135131" cy="1488443"/>
            <a:chOff x="0" y="0"/>
            <a:chExt cx="180175" cy="198459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146304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0086" cy="1984502"/>
            </a:xfrm>
            <a:custGeom>
              <a:avLst/>
              <a:gdLst/>
              <a:ahLst/>
              <a:cxnLst/>
              <a:rect r="r" b="b" t="t" l="l"/>
              <a:pathLst>
                <a:path h="19845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967611"/>
                  </a:lnTo>
                  <a:cubicBezTo>
                    <a:pt x="180086" y="1977009"/>
                    <a:pt x="172466" y="1984502"/>
                    <a:pt x="163195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163195" y="1950720"/>
                  </a:lnTo>
                  <a:lnTo>
                    <a:pt x="163195" y="1967611"/>
                  </a:lnTo>
                  <a:lnTo>
                    <a:pt x="146304" y="19676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88720" y="8558784"/>
            <a:ext cx="15910560" cy="457200"/>
            <a:chOff x="0" y="0"/>
            <a:chExt cx="2121408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214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79" r="0" b="-62807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1214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ESP8266 Implementation: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722234" y="6892080"/>
            <a:ext cx="838074" cy="38824"/>
            <a:chOff x="0" y="0"/>
            <a:chExt cx="1117432" cy="5176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148" y="0"/>
              <a:ext cx="1085136" cy="51816"/>
            </a:xfrm>
            <a:custGeom>
              <a:avLst/>
              <a:gdLst/>
              <a:ahLst/>
              <a:cxnLst/>
              <a:rect r="r" b="b" t="t" l="l"/>
              <a:pathLst>
                <a:path h="51816" w="1085136">
                  <a:moveTo>
                    <a:pt x="0" y="0"/>
                  </a:moveTo>
                  <a:lnTo>
                    <a:pt x="1085136" y="1016"/>
                  </a:lnTo>
                  <a:lnTo>
                    <a:pt x="1085136" y="51816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2815619" y="6892080"/>
            <a:ext cx="838074" cy="38100"/>
            <a:chOff x="0" y="0"/>
            <a:chExt cx="1117432" cy="50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148" y="0"/>
              <a:ext cx="1085136" cy="50800"/>
            </a:xfrm>
            <a:custGeom>
              <a:avLst/>
              <a:gdLst/>
              <a:ahLst/>
              <a:cxnLst/>
              <a:rect r="r" b="b" t="t" l="l"/>
              <a:pathLst>
                <a:path h="50800" w="1085136">
                  <a:moveTo>
                    <a:pt x="0" y="0"/>
                  </a:moveTo>
                  <a:lnTo>
                    <a:pt x="1085136" y="0"/>
                  </a:lnTo>
                  <a:lnTo>
                    <a:pt x="108513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Freeform 106" id="106"/>
          <p:cNvSpPr/>
          <p:nvPr/>
        </p:nvSpPr>
        <p:spPr>
          <a:xfrm flipH="false" flipV="false" rot="0">
            <a:off x="9085734" y="2315563"/>
            <a:ext cx="9014171" cy="5780337"/>
          </a:xfrm>
          <a:custGeom>
            <a:avLst/>
            <a:gdLst/>
            <a:ahLst/>
            <a:cxnLst/>
            <a:rect r="r" b="b" t="t" l="l"/>
            <a:pathLst>
              <a:path h="5780337" w="9014171">
                <a:moveTo>
                  <a:pt x="0" y="0"/>
                </a:moveTo>
                <a:lnTo>
                  <a:pt x="9014171" y="0"/>
                </a:lnTo>
                <a:lnTo>
                  <a:pt x="9014171" y="5780337"/>
                </a:lnTo>
                <a:lnTo>
                  <a:pt x="0" y="5780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7" id="107"/>
          <p:cNvSpPr txBox="true"/>
          <p:nvPr/>
        </p:nvSpPr>
        <p:spPr>
          <a:xfrm rot="0">
            <a:off x="909364" y="3529079"/>
            <a:ext cx="17439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ESP8266 configured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same SSID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3815979" y="3513715"/>
            <a:ext cx="17439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Rogue AP advertises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cloned network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722593" y="3513715"/>
            <a:ext cx="17439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Force disconnect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legitimate AP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710483" y="6786501"/>
            <a:ext cx="174396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Disconnected client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searches for networks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3815979" y="6805555"/>
            <a:ext cx="174396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Connects to evil twin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(stronger signal)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09364" y="6882555"/>
            <a:ext cx="17439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Fake login page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harvests credentials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88720" y="8959596"/>
            <a:ext cx="1591056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Custom firmware flashed on ESP8266 creates a fake SSID matching the original AP. When victims connect, they are served a captive portal replica of the legitimate login page. Any credentials entered are captured and logged by the ESP8266.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 ATTACK CHAIN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0584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Deauth + Evil Twin Work Together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70070" y="3181350"/>
            <a:ext cx="38100" cy="641604"/>
            <a:chOff x="0" y="0"/>
            <a:chExt cx="50800" cy="8554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5400"/>
              <a:ext cx="5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50800">
                  <a:moveTo>
                    <a:pt x="50800" y="0"/>
                  </a:moveTo>
                  <a:lnTo>
                    <a:pt x="50800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4583" y="2364743"/>
            <a:ext cx="6609083" cy="848363"/>
            <a:chOff x="0" y="0"/>
            <a:chExt cx="8812111" cy="11311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120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114171"/>
                  </a:lnTo>
                  <a:cubicBezTo>
                    <a:pt x="8812022" y="1123569"/>
                    <a:pt x="8804402" y="1131062"/>
                    <a:pt x="87951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795131" y="1097280"/>
                  </a:lnTo>
                  <a:lnTo>
                    <a:pt x="8795131" y="1114171"/>
                  </a:lnTo>
                  <a:lnTo>
                    <a:pt x="8778240" y="111417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4583" y="2364743"/>
            <a:ext cx="135131" cy="848363"/>
            <a:chOff x="0" y="0"/>
            <a:chExt cx="180175" cy="1131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2432304"/>
            <a:ext cx="3657600" cy="402336"/>
            <a:chOff x="0" y="0"/>
            <a:chExt cx="4876800" cy="5364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 Mode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2798064"/>
            <a:ext cx="6035040" cy="365760"/>
            <a:chOff x="0" y="0"/>
            <a:chExt cx="8046720" cy="48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17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17">
                  <a:moveTo>
                    <a:pt x="0" y="0"/>
                  </a:moveTo>
                  <a:lnTo>
                    <a:pt x="8046717" y="0"/>
                  </a:lnTo>
                  <a:lnTo>
                    <a:pt x="8046717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airmon-ng start wlan0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370070" y="4607814"/>
            <a:ext cx="38100" cy="641604"/>
            <a:chOff x="0" y="0"/>
            <a:chExt cx="50800" cy="8554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5400"/>
              <a:ext cx="5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50800">
                  <a:moveTo>
                    <a:pt x="50800" y="0"/>
                  </a:moveTo>
                  <a:lnTo>
                    <a:pt x="50800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4583" y="3791207"/>
            <a:ext cx="6609083" cy="848363"/>
            <a:chOff x="0" y="0"/>
            <a:chExt cx="8812111" cy="1131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120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114171"/>
                  </a:lnTo>
                  <a:cubicBezTo>
                    <a:pt x="8812022" y="1123569"/>
                    <a:pt x="8804402" y="1131062"/>
                    <a:pt x="87951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795131" y="1097280"/>
                  </a:lnTo>
                  <a:lnTo>
                    <a:pt x="8795131" y="1114171"/>
                  </a:lnTo>
                  <a:lnTo>
                    <a:pt x="8778240" y="111417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84583" y="3791207"/>
            <a:ext cx="135131" cy="848363"/>
            <a:chOff x="0" y="0"/>
            <a:chExt cx="180175" cy="11311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71600" y="3858768"/>
            <a:ext cx="3657600" cy="402336"/>
            <a:chOff x="0" y="0"/>
            <a:chExt cx="4876800" cy="5364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 Networks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1600" y="4224528"/>
            <a:ext cx="6035040" cy="365760"/>
            <a:chOff x="0" y="0"/>
            <a:chExt cx="8046720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17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17">
                  <a:moveTo>
                    <a:pt x="0" y="0"/>
                  </a:moveTo>
                  <a:lnTo>
                    <a:pt x="8046717" y="0"/>
                  </a:lnTo>
                  <a:lnTo>
                    <a:pt x="8046717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airodump-ng wlan0mon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370070" y="6034278"/>
            <a:ext cx="38100" cy="641604"/>
            <a:chOff x="0" y="0"/>
            <a:chExt cx="50800" cy="8554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25400"/>
              <a:ext cx="5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50800">
                  <a:moveTo>
                    <a:pt x="50800" y="0"/>
                  </a:moveTo>
                  <a:lnTo>
                    <a:pt x="50800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583" y="5217671"/>
            <a:ext cx="6609083" cy="848363"/>
            <a:chOff x="0" y="0"/>
            <a:chExt cx="8812111" cy="1131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8120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114171"/>
                  </a:lnTo>
                  <a:cubicBezTo>
                    <a:pt x="8812022" y="1123569"/>
                    <a:pt x="8804402" y="1131062"/>
                    <a:pt x="87951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795131" y="1097280"/>
                  </a:lnTo>
                  <a:lnTo>
                    <a:pt x="8795131" y="1114171"/>
                  </a:lnTo>
                  <a:lnTo>
                    <a:pt x="8778240" y="111417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84583" y="5217671"/>
            <a:ext cx="135131" cy="848363"/>
            <a:chOff x="0" y="0"/>
            <a:chExt cx="180175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5285232"/>
            <a:ext cx="3657600" cy="402336"/>
            <a:chOff x="0" y="0"/>
            <a:chExt cx="487680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Deauth Client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5650992"/>
            <a:ext cx="6035040" cy="365760"/>
            <a:chOff x="0" y="0"/>
            <a:chExt cx="804672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717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17">
                  <a:moveTo>
                    <a:pt x="0" y="0"/>
                  </a:moveTo>
                  <a:lnTo>
                    <a:pt x="8046717" y="0"/>
                  </a:lnTo>
                  <a:lnTo>
                    <a:pt x="8046717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aireplay-ng -0 0 -a &lt;BSSID&gt; -c &lt;CLIENT&gt;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70070" y="7460742"/>
            <a:ext cx="38100" cy="641604"/>
            <a:chOff x="0" y="0"/>
            <a:chExt cx="50800" cy="8554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25400"/>
              <a:ext cx="5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50800">
                  <a:moveTo>
                    <a:pt x="50800" y="0"/>
                  </a:moveTo>
                  <a:lnTo>
                    <a:pt x="50800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84583" y="6644135"/>
            <a:ext cx="6609083" cy="848363"/>
            <a:chOff x="0" y="0"/>
            <a:chExt cx="8812111" cy="11311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8120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114171"/>
                  </a:lnTo>
                  <a:cubicBezTo>
                    <a:pt x="8812022" y="1123569"/>
                    <a:pt x="8804402" y="1131062"/>
                    <a:pt x="87951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795131" y="1097280"/>
                  </a:lnTo>
                  <a:lnTo>
                    <a:pt x="8795131" y="1114171"/>
                  </a:lnTo>
                  <a:lnTo>
                    <a:pt x="8778240" y="111417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84583" y="6644135"/>
            <a:ext cx="135131" cy="848363"/>
            <a:chOff x="0" y="0"/>
            <a:chExt cx="180175" cy="11311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71600" y="6711696"/>
            <a:ext cx="3657600" cy="402336"/>
            <a:chOff x="0" y="0"/>
            <a:chExt cx="4876800" cy="5364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Evil Twin AP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1600" y="7077456"/>
            <a:ext cx="6035040" cy="365760"/>
            <a:chOff x="0" y="0"/>
            <a:chExt cx="8046720" cy="487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046717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17">
                  <a:moveTo>
                    <a:pt x="0" y="0"/>
                  </a:moveTo>
                  <a:lnTo>
                    <a:pt x="8046717" y="0"/>
                  </a:lnTo>
                  <a:lnTo>
                    <a:pt x="8046717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ESP8266 broadcasts cloned SSID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84583" y="8070599"/>
            <a:ext cx="6609083" cy="848363"/>
            <a:chOff x="0" y="0"/>
            <a:chExt cx="8812111" cy="113115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8120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114171"/>
                  </a:lnTo>
                  <a:cubicBezTo>
                    <a:pt x="8812022" y="1123569"/>
                    <a:pt x="8804402" y="1131062"/>
                    <a:pt x="87951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795131" y="1097280"/>
                  </a:lnTo>
                  <a:lnTo>
                    <a:pt x="8795131" y="1114171"/>
                  </a:lnTo>
                  <a:lnTo>
                    <a:pt x="8778240" y="111417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84583" y="8070599"/>
            <a:ext cx="135131" cy="848363"/>
            <a:chOff x="0" y="0"/>
            <a:chExt cx="180175" cy="11311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46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0086" cy="1131064"/>
            </a:xfrm>
            <a:custGeom>
              <a:avLst/>
              <a:gdLst/>
              <a:ahLst/>
              <a:cxnLst/>
              <a:rect r="r" b="b" t="t" l="l"/>
              <a:pathLst>
                <a:path h="113106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14171"/>
                  </a:lnTo>
                  <a:cubicBezTo>
                    <a:pt x="180086" y="1123569"/>
                    <a:pt x="172466" y="1131062"/>
                    <a:pt x="163195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63195" y="1097280"/>
                  </a:lnTo>
                  <a:lnTo>
                    <a:pt x="163195" y="1114171"/>
                  </a:lnTo>
                  <a:lnTo>
                    <a:pt x="146304" y="11141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71600" y="8138160"/>
            <a:ext cx="3657600" cy="402336"/>
            <a:chOff x="0" y="0"/>
            <a:chExt cx="487680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 Harvest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71600" y="8503920"/>
            <a:ext cx="6035040" cy="365760"/>
            <a:chOff x="0" y="0"/>
            <a:chExt cx="804672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17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17">
                  <a:moveTo>
                    <a:pt x="0" y="0"/>
                  </a:moveTo>
                  <a:lnTo>
                    <a:pt x="8046717" y="0"/>
                  </a:lnTo>
                  <a:lnTo>
                    <a:pt x="8046717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Victim enters password in captive portal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467349" y="2315461"/>
            <a:ext cx="8167859" cy="5466083"/>
            <a:chOff x="0" y="0"/>
            <a:chExt cx="10890478" cy="72881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5046" y="12578"/>
              <a:ext cx="10860307" cy="7262890"/>
            </a:xfrm>
            <a:custGeom>
              <a:avLst/>
              <a:gdLst/>
              <a:ahLst/>
              <a:cxnLst/>
              <a:rect r="r" b="b" t="t" l="l"/>
              <a:pathLst>
                <a:path h="7262890" w="10860307">
                  <a:moveTo>
                    <a:pt x="0" y="0"/>
                  </a:moveTo>
                  <a:lnTo>
                    <a:pt x="10860307" y="0"/>
                  </a:lnTo>
                  <a:lnTo>
                    <a:pt x="10860307" y="7262890"/>
                  </a:lnTo>
                  <a:lnTo>
                    <a:pt x="0" y="7262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90399" cy="7288044"/>
            </a:xfrm>
            <a:custGeom>
              <a:avLst/>
              <a:gdLst/>
              <a:ahLst/>
              <a:cxnLst/>
              <a:rect r="r" b="b" t="t" l="l"/>
              <a:pathLst>
                <a:path h="7288044" w="10890399">
                  <a:moveTo>
                    <a:pt x="15046" y="0"/>
                  </a:moveTo>
                  <a:lnTo>
                    <a:pt x="10875353" y="0"/>
                  </a:lnTo>
                  <a:cubicBezTo>
                    <a:pt x="10883725" y="0"/>
                    <a:pt x="10890399" y="5674"/>
                    <a:pt x="10890399" y="12578"/>
                  </a:cubicBezTo>
                  <a:lnTo>
                    <a:pt x="10890399" y="7275468"/>
                  </a:lnTo>
                  <a:cubicBezTo>
                    <a:pt x="10890399" y="7282466"/>
                    <a:pt x="10883612" y="7288044"/>
                    <a:pt x="10875353" y="7288044"/>
                  </a:cubicBezTo>
                  <a:lnTo>
                    <a:pt x="15046" y="7288044"/>
                  </a:lnTo>
                  <a:cubicBezTo>
                    <a:pt x="6675" y="7288044"/>
                    <a:pt x="0" y="7282370"/>
                    <a:pt x="0" y="7275468"/>
                  </a:cubicBezTo>
                  <a:lnTo>
                    <a:pt x="0" y="12578"/>
                  </a:lnTo>
                  <a:cubicBezTo>
                    <a:pt x="0" y="5674"/>
                    <a:pt x="6788" y="0"/>
                    <a:pt x="15046" y="0"/>
                  </a:cubicBezTo>
                  <a:moveTo>
                    <a:pt x="15046" y="25250"/>
                  </a:moveTo>
                  <a:lnTo>
                    <a:pt x="15046" y="12578"/>
                  </a:lnTo>
                  <a:lnTo>
                    <a:pt x="30205" y="12578"/>
                  </a:lnTo>
                  <a:lnTo>
                    <a:pt x="30205" y="7275468"/>
                  </a:lnTo>
                  <a:lnTo>
                    <a:pt x="15046" y="7275468"/>
                  </a:lnTo>
                  <a:lnTo>
                    <a:pt x="15046" y="7262889"/>
                  </a:lnTo>
                  <a:lnTo>
                    <a:pt x="10875353" y="7262889"/>
                  </a:lnTo>
                  <a:lnTo>
                    <a:pt x="10875353" y="7275468"/>
                  </a:lnTo>
                  <a:lnTo>
                    <a:pt x="10860307" y="7275468"/>
                  </a:lnTo>
                  <a:lnTo>
                    <a:pt x="10860307" y="12578"/>
                  </a:lnTo>
                  <a:lnTo>
                    <a:pt x="10875353" y="12578"/>
                  </a:lnTo>
                  <a:lnTo>
                    <a:pt x="10875353" y="25250"/>
                  </a:lnTo>
                  <a:lnTo>
                    <a:pt x="15046" y="252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399783" y="2315461"/>
            <a:ext cx="135131" cy="5466083"/>
            <a:chOff x="0" y="0"/>
            <a:chExt cx="180175" cy="72881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2578"/>
              <a:ext cx="146304" cy="7262890"/>
            </a:xfrm>
            <a:custGeom>
              <a:avLst/>
              <a:gdLst/>
              <a:ahLst/>
              <a:cxnLst/>
              <a:rect r="r" b="b" t="t" l="l"/>
              <a:pathLst>
                <a:path h="726289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262890"/>
                  </a:lnTo>
                  <a:lnTo>
                    <a:pt x="0" y="726289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0086" cy="7288044"/>
            </a:xfrm>
            <a:custGeom>
              <a:avLst/>
              <a:gdLst/>
              <a:ahLst/>
              <a:cxnLst/>
              <a:rect r="r" b="b" t="t" l="l"/>
              <a:pathLst>
                <a:path h="728804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5674"/>
                    <a:pt x="180086" y="12578"/>
                  </a:cubicBezTo>
                  <a:lnTo>
                    <a:pt x="180086" y="7275468"/>
                  </a:lnTo>
                  <a:cubicBezTo>
                    <a:pt x="180086" y="7282466"/>
                    <a:pt x="172466" y="7288044"/>
                    <a:pt x="163195" y="7288044"/>
                  </a:cubicBezTo>
                  <a:lnTo>
                    <a:pt x="16891" y="7288044"/>
                  </a:lnTo>
                  <a:cubicBezTo>
                    <a:pt x="7493" y="7288044"/>
                    <a:pt x="0" y="7282370"/>
                    <a:pt x="0" y="7275468"/>
                  </a:cubicBezTo>
                  <a:lnTo>
                    <a:pt x="0" y="12578"/>
                  </a:lnTo>
                  <a:cubicBezTo>
                    <a:pt x="0" y="5674"/>
                    <a:pt x="7620" y="0"/>
                    <a:pt x="16891" y="0"/>
                  </a:cubicBezTo>
                  <a:moveTo>
                    <a:pt x="16891" y="25250"/>
                  </a:moveTo>
                  <a:lnTo>
                    <a:pt x="16891" y="12578"/>
                  </a:lnTo>
                  <a:lnTo>
                    <a:pt x="33909" y="12578"/>
                  </a:lnTo>
                  <a:lnTo>
                    <a:pt x="33909" y="7275468"/>
                  </a:lnTo>
                  <a:lnTo>
                    <a:pt x="16891" y="7275468"/>
                  </a:lnTo>
                  <a:lnTo>
                    <a:pt x="16891" y="7262889"/>
                  </a:lnTo>
                  <a:lnTo>
                    <a:pt x="163195" y="7262889"/>
                  </a:lnTo>
                  <a:lnTo>
                    <a:pt x="163195" y="7275468"/>
                  </a:lnTo>
                  <a:lnTo>
                    <a:pt x="146304" y="7275468"/>
                  </a:lnTo>
                  <a:lnTo>
                    <a:pt x="146304" y="12578"/>
                  </a:lnTo>
                  <a:lnTo>
                    <a:pt x="163195" y="12578"/>
                  </a:lnTo>
                  <a:lnTo>
                    <a:pt x="163195" y="25250"/>
                  </a:lnTo>
                  <a:lnTo>
                    <a:pt x="16891" y="2525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8687314" y="2531745"/>
            <a:ext cx="8229600" cy="640080"/>
            <a:chOff x="0" y="0"/>
            <a:chExt cx="10972800" cy="8534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109728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Impact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8846820" y="3347466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Victim forcibly disconnected from legitimate AP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846820" y="4042410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Device scans and finds evil twin with same SSID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846820" y="4737354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Auto-reconnect to rogue AP (stronger signal)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846820" y="5432298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Captive portal mimics legitimate login page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846820" y="6127242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Credentials captured in plain text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846820" y="6822186"/>
            <a:ext cx="8412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  <a:r>
              <a:rPr lang="en-US" sz="25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Attacker now has Wi-Fi password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399783" y="8019669"/>
            <a:ext cx="9530715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7"/>
              </a:lnSpc>
              <a:spcBef>
                <a:spcPct val="0"/>
              </a:spcBef>
            </a:pPr>
            <a:r>
              <a:rPr lang="en-US" sz="328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Deauth works mainly because:</a:t>
            </a:r>
          </a:p>
          <a:p>
            <a:pPr algn="just">
              <a:lnSpc>
                <a:spcPts val="3947"/>
              </a:lnSpc>
              <a:spcBef>
                <a:spcPct val="0"/>
              </a:spcBef>
            </a:pPr>
            <a:r>
              <a:rPr lang="en-US" sz="3289" i="true">
                <a:solidFill>
                  <a:srgbClr val="EF444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→ management frames were historically </a:t>
            </a:r>
            <a:r>
              <a:rPr lang="en-US" b="true" sz="3289" i="true">
                <a:solidFill>
                  <a:srgbClr val="EF444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NOT</a:t>
            </a:r>
            <a:r>
              <a:rPr lang="en-US" sz="3289" i="true">
                <a:solidFill>
                  <a:srgbClr val="EF444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protected</a:t>
            </a:r>
          </a:p>
          <a:p>
            <a:pPr algn="just">
              <a:lnSpc>
                <a:spcPts val="3947"/>
              </a:lnSpc>
              <a:spcBef>
                <a:spcPct val="0"/>
              </a:spcBef>
            </a:pPr>
            <a:r>
              <a:rPr lang="en-US" sz="328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Evil twin works because:</a:t>
            </a:r>
          </a:p>
          <a:p>
            <a:pPr algn="just">
              <a:lnSpc>
                <a:spcPts val="3947"/>
              </a:lnSpc>
              <a:spcBef>
                <a:spcPct val="0"/>
              </a:spcBef>
            </a:pPr>
            <a:r>
              <a:rPr lang="en-US" sz="3289" i="true">
                <a:solidFill>
                  <a:srgbClr val="EF444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→ humans trust </a:t>
            </a:r>
            <a:r>
              <a:rPr lang="en-US" b="true" sz="3289" i="true">
                <a:solidFill>
                  <a:srgbClr val="EF444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names</a:t>
            </a:r>
            <a:r>
              <a:rPr lang="en-US" sz="3289" i="true">
                <a:solidFill>
                  <a:srgbClr val="EF444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not identity (BSSID/certificates)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DEFENSES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00584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to Protect Against These Attacks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364743"/>
            <a:ext cx="8072123" cy="3408683"/>
            <a:chOff x="0" y="0"/>
            <a:chExt cx="10762831" cy="4544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527931"/>
                  </a:lnTo>
                  <a:cubicBezTo>
                    <a:pt x="10762742" y="4537329"/>
                    <a:pt x="10755122" y="4544822"/>
                    <a:pt x="1074585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45851" y="4511040"/>
                  </a:lnTo>
                  <a:lnTo>
                    <a:pt x="10745851" y="4527931"/>
                  </a:lnTo>
                  <a:lnTo>
                    <a:pt x="10728960" y="4527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364743"/>
            <a:ext cx="135131" cy="3408683"/>
            <a:chOff x="0" y="0"/>
            <a:chExt cx="180175" cy="4544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560320"/>
            <a:ext cx="822960" cy="822960"/>
            <a:chOff x="0" y="0"/>
            <a:chExt cx="1097280" cy="109728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011680" y="2596896"/>
            <a:ext cx="6400800" cy="585216"/>
            <a:chOff x="0" y="0"/>
            <a:chExt cx="853440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534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802.11w PMF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60704" y="3559184"/>
            <a:ext cx="7730242" cy="16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604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Protected Management Frames </a:t>
            </a:r>
            <a:r>
              <a:rPr lang="en-US" sz="2604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encrypts management frames including deauth packets</a:t>
            </a:r>
            <a:r>
              <a:rPr lang="en-US" sz="2604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. Forged frames fail signature verification and are silently dropped — deauth attack becomes impossible.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97063" y="2364743"/>
            <a:ext cx="8072123" cy="3408683"/>
            <a:chOff x="0" y="0"/>
            <a:chExt cx="10762831" cy="45449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527931"/>
                  </a:lnTo>
                  <a:cubicBezTo>
                    <a:pt x="10762742" y="4537329"/>
                    <a:pt x="10755122" y="4544822"/>
                    <a:pt x="1074585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45851" y="4511040"/>
                  </a:lnTo>
                  <a:lnTo>
                    <a:pt x="10745851" y="4527931"/>
                  </a:lnTo>
                  <a:lnTo>
                    <a:pt x="10728960" y="4527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97063" y="2364743"/>
            <a:ext cx="135131" cy="3408683"/>
            <a:chOff x="0" y="0"/>
            <a:chExt cx="180175" cy="4544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84080" y="2560320"/>
            <a:ext cx="822960" cy="822960"/>
            <a:chOff x="0" y="0"/>
            <a:chExt cx="1097280" cy="109728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89920" y="2596896"/>
            <a:ext cx="6400800" cy="585216"/>
            <a:chOff x="0" y="0"/>
            <a:chExt cx="85344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534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WPA3-Personal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838944" y="3485350"/>
            <a:ext cx="73152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Mandates PMF</a:t>
            </a:r>
            <a:r>
              <a:rPr lang="en-US" sz="26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by default. Replaces PSK with SAE (Simultaneous Authentication of Equals) preventing offline brute-force attacks on captured handshakes.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18823" y="6113783"/>
            <a:ext cx="8072123" cy="3408683"/>
            <a:chOff x="0" y="0"/>
            <a:chExt cx="10762831" cy="45449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527931"/>
                  </a:lnTo>
                  <a:cubicBezTo>
                    <a:pt x="10762742" y="4537329"/>
                    <a:pt x="10755122" y="4544822"/>
                    <a:pt x="1074585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45851" y="4511040"/>
                  </a:lnTo>
                  <a:lnTo>
                    <a:pt x="10745851" y="4527931"/>
                  </a:lnTo>
                  <a:lnTo>
                    <a:pt x="10728960" y="4527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6113783"/>
            <a:ext cx="135131" cy="3408683"/>
            <a:chOff x="0" y="0"/>
            <a:chExt cx="180175" cy="45449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6309360"/>
            <a:ext cx="822960" cy="822960"/>
            <a:chOff x="0" y="0"/>
            <a:chExt cx="1097280" cy="109728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011680" y="6345936"/>
            <a:ext cx="6400800" cy="585216"/>
            <a:chOff x="0" y="0"/>
            <a:chExt cx="853440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8534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VPN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60704" y="7234390"/>
            <a:ext cx="73152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Encrypts all traffic end-to-end. Even if connected to evil twin, attacker sees only ciphertext. Essential for public Wi-Fi usage.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497063" y="6113783"/>
            <a:ext cx="8072123" cy="3408683"/>
            <a:chOff x="0" y="0"/>
            <a:chExt cx="10762831" cy="45449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6274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527931"/>
                  </a:lnTo>
                  <a:cubicBezTo>
                    <a:pt x="10762742" y="4537329"/>
                    <a:pt x="10755122" y="4544822"/>
                    <a:pt x="1074585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45851" y="4511040"/>
                  </a:lnTo>
                  <a:lnTo>
                    <a:pt x="10745851" y="4527931"/>
                  </a:lnTo>
                  <a:lnTo>
                    <a:pt x="10728960" y="4527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497063" y="6113783"/>
            <a:ext cx="135131" cy="3408683"/>
            <a:chOff x="0" y="0"/>
            <a:chExt cx="180175" cy="45449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84080" y="6309360"/>
            <a:ext cx="822960" cy="822960"/>
            <a:chOff x="0" y="0"/>
            <a:chExt cx="1097280" cy="109728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789920" y="6345936"/>
            <a:ext cx="6400800" cy="585216"/>
            <a:chOff x="0" y="0"/>
            <a:chExt cx="853440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534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+ HSTS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838944" y="7234390"/>
            <a:ext cx="73152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Encrypts web traffic and prevents downgrade attacks. Certificate pinning in apps rejects fake certificates from MITM attackers.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18823" y="9497063"/>
            <a:ext cx="16850363" cy="574043"/>
            <a:chOff x="0" y="0"/>
            <a:chExt cx="22467151" cy="7653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67063" cy="765304"/>
            </a:xfrm>
            <a:custGeom>
              <a:avLst/>
              <a:gdLst/>
              <a:ahLst/>
              <a:cxnLst/>
              <a:rect r="r" b="b" t="t" l="l"/>
              <a:pathLst>
                <a:path h="76530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748411"/>
                  </a:lnTo>
                  <a:cubicBezTo>
                    <a:pt x="22467063" y="757809"/>
                    <a:pt x="22459443" y="765302"/>
                    <a:pt x="2245017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2450171" y="731520"/>
                  </a:lnTo>
                  <a:lnTo>
                    <a:pt x="22450171" y="748411"/>
                  </a:lnTo>
                  <a:lnTo>
                    <a:pt x="22433280" y="7484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9546336"/>
            <a:ext cx="16459200" cy="475488"/>
            <a:chOff x="0" y="0"/>
            <a:chExt cx="2194560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protection: WPA3 router + PMF-enabled clients + VPN on untrusted networks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DAHG2fe7NaI</dc:identifier>
  <dcterms:modified xsi:type="dcterms:W3CDTF">2011-08-01T06:04:30Z</dcterms:modified>
  <cp:revision>1</cp:revision>
  <dc:title>Cybersecurity Course Project | NMIMS Indore</dc:title>
</cp:coreProperties>
</file>