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5143500"/>
  <p:notesSz cx="5143500" cy="9144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2880"/>
        <p:guide pos="162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146755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6016938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21570148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805893758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17018836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33023519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34044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855034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91809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98040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40829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184036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25026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448526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447114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10254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97134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118830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5102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97066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50397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42943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01238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539252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36405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823892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84419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5338681" name="Shape 0"/>
          <p:cNvSpPr/>
          <p:nvPr/>
        </p:nvSpPr>
        <p:spPr bwMode="auto">
          <a:xfrm>
            <a:off x="0" y="0"/>
            <a:ext cx="914400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15890427" name="Shape 1"/>
          <p:cNvSpPr/>
          <p:nvPr/>
        </p:nvSpPr>
        <p:spPr bwMode="auto">
          <a:xfrm>
            <a:off x="0" y="0"/>
            <a:ext cx="228600" cy="51435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74678089" name="Text 2"/>
          <p:cNvSpPr/>
          <p:nvPr/>
        </p:nvSpPr>
        <p:spPr bwMode="auto">
          <a:xfrm>
            <a:off x="4114800" y="54864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  <a:defRPr/>
            </a:pPr>
            <a:r>
              <a:rPr lang="en-US" sz="9000" b="1">
                <a:solidFill>
                  <a:srgbClr val="E2E8F0">
                    <a:alpha val="30000"/>
                  </a:srgbClr>
                </a:solidFill>
              </a:rPr>
              <a:t>802.11</a:t>
            </a:r>
            <a:endParaRPr lang="en-US" sz="9000"/>
          </a:p>
        </p:txBody>
      </p:sp>
      <p:sp>
        <p:nvSpPr>
          <p:cNvPr id="886240608" name="Text 3"/>
          <p:cNvSpPr/>
          <p:nvPr/>
        </p:nvSpPr>
        <p:spPr bwMode="auto">
          <a:xfrm>
            <a:off x="548640" y="10058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800" b="1">
                <a:solidFill>
                  <a:srgbClr val="EF4444"/>
                </a:solidFill>
                <a:latin typeface="Calibri"/>
                <a:ea typeface="Calibri"/>
                <a:cs typeface="Calibri"/>
              </a:rPr>
              <a:t>DEAUTHENTICATION &amp;</a:t>
            </a:r>
            <a:endParaRPr lang="en-US" sz="3800"/>
          </a:p>
        </p:txBody>
      </p:sp>
      <p:sp>
        <p:nvSpPr>
          <p:cNvPr id="1938918185" name="Text 4"/>
          <p:cNvSpPr/>
          <p:nvPr/>
        </p:nvSpPr>
        <p:spPr bwMode="auto">
          <a:xfrm>
            <a:off x="548640" y="16916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8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EVIL TWIN ATTACKS</a:t>
            </a:r>
            <a:endParaRPr lang="en-US" sz="3800"/>
          </a:p>
        </p:txBody>
      </p:sp>
      <p:sp>
        <p:nvSpPr>
          <p:cNvPr id="6475341" name="Shape 5"/>
          <p:cNvSpPr/>
          <p:nvPr/>
        </p:nvSpPr>
        <p:spPr bwMode="auto">
          <a:xfrm>
            <a:off x="548640" y="2487168"/>
            <a:ext cx="3200400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94349595" name="Text 6"/>
          <p:cNvSpPr/>
          <p:nvPr/>
        </p:nvSpPr>
        <p:spPr bwMode="auto">
          <a:xfrm>
            <a:off x="548640" y="2606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4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How they work — and how to stop them</a:t>
            </a:r>
            <a:endParaRPr lang="en-US" sz="1400"/>
          </a:p>
        </p:txBody>
      </p:sp>
      <p:sp>
        <p:nvSpPr>
          <p:cNvPr id="898352464" name="Shape 7"/>
          <p:cNvSpPr/>
          <p:nvPr/>
        </p:nvSpPr>
        <p:spPr bwMode="auto">
          <a:xfrm>
            <a:off x="548640" y="3154680"/>
            <a:ext cx="1005840" cy="228600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77089433" name="Text 8"/>
          <p:cNvSpPr/>
          <p:nvPr/>
        </p:nvSpPr>
        <p:spPr bwMode="auto">
          <a:xfrm>
            <a:off x="548640" y="31546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700" b="1" spc="200">
                <a:solidFill>
                  <a:srgbClr val="EF4444"/>
                </a:solidFill>
              </a:rPr>
              <a:t>CYBERSECURITY</a:t>
            </a:r>
            <a:endParaRPr lang="en-US" sz="700"/>
          </a:p>
        </p:txBody>
      </p:sp>
      <p:sp>
        <p:nvSpPr>
          <p:cNvPr id="469466145" name="Shape 9"/>
          <p:cNvSpPr/>
          <p:nvPr/>
        </p:nvSpPr>
        <p:spPr bwMode="auto">
          <a:xfrm>
            <a:off x="1645920" y="3154680"/>
            <a:ext cx="1005840" cy="228600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81966356" name="Text 10"/>
          <p:cNvSpPr/>
          <p:nvPr/>
        </p:nvSpPr>
        <p:spPr bwMode="auto">
          <a:xfrm>
            <a:off x="1645920" y="31546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700" b="1" spc="200">
                <a:solidFill>
                  <a:srgbClr val="F59E0B"/>
                </a:solidFill>
              </a:rPr>
              <a:t>802.11</a:t>
            </a:r>
            <a:endParaRPr lang="en-US" sz="700"/>
          </a:p>
        </p:txBody>
      </p:sp>
      <p:sp>
        <p:nvSpPr>
          <p:cNvPr id="922415062" name="Shape 11"/>
          <p:cNvSpPr/>
          <p:nvPr/>
        </p:nvSpPr>
        <p:spPr bwMode="auto">
          <a:xfrm>
            <a:off x="2743200" y="3154680"/>
            <a:ext cx="1005840" cy="228600"/>
          </a:xfrm>
          <a:prstGeom prst="rect">
            <a:avLst/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10784842" name="Text 12"/>
          <p:cNvSpPr/>
          <p:nvPr/>
        </p:nvSpPr>
        <p:spPr bwMode="auto">
          <a:xfrm>
            <a:off x="2743200" y="31546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700" b="1" spc="200">
                <a:solidFill>
                  <a:srgbClr val="3B82F6"/>
                </a:solidFill>
              </a:rPr>
              <a:t>WIRELESS</a:t>
            </a:r>
            <a:endParaRPr lang="en-US" sz="700"/>
          </a:p>
        </p:txBody>
      </p:sp>
      <p:sp>
        <p:nvSpPr>
          <p:cNvPr id="447529664" name="Shape 13"/>
          <p:cNvSpPr/>
          <p:nvPr/>
        </p:nvSpPr>
        <p:spPr bwMode="auto">
          <a:xfrm>
            <a:off x="0" y="4846320"/>
            <a:ext cx="9144000" cy="2971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0348637" name="Text 14"/>
          <p:cNvSpPr/>
          <p:nvPr/>
        </p:nvSpPr>
        <p:spPr bwMode="auto"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475569"/>
                </a:solidFill>
              </a:rPr>
              <a:t> Cybersecurity Course Project  |  NMIMS Indore</a:t>
            </a:r>
            <a:endParaRPr lang="en-US" sz="900"/>
          </a:p>
        </p:txBody>
      </p:sp>
      <p:pic>
        <p:nvPicPr>
          <p:cNvPr id="520476130" name="Image 0" descr="preencoded.png"/>
          <p:cNvPicPr>
            <a:picLocks noChangeAspect="1"/>
          </p:cNvPicPr>
          <p:nvPr/>
        </p:nvPicPr>
        <p:blipFill rotWithShape="1">
          <a:blip r:embed="rId3">
            <a:alphaModFix amt="20000"/>
          </a:blip>
          <a:stretch/>
        </p:blipFill>
        <p:spPr bwMode="auto">
          <a:xfrm>
            <a:off x="6858000" y="1371600"/>
            <a:ext cx="1828800" cy="1828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4485985" name="Shape 0"/>
          <p:cNvSpPr/>
          <p:nvPr/>
        </p:nvSpPr>
        <p:spPr bwMode="auto"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3381837" name="Text 1"/>
          <p:cNvSpPr/>
          <p:nvPr/>
        </p:nvSpPr>
        <p:spPr bwMode="auto"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000" b="1" spc="500">
                <a:solidFill>
                  <a:srgbClr val="F59E0B"/>
                </a:solidFill>
              </a:rPr>
              <a:t>THE FOUNDATIONAL FLAW</a:t>
            </a:r>
            <a:endParaRPr lang="en-US" sz="1000"/>
          </a:p>
        </p:txBody>
      </p:sp>
      <p:sp>
        <p:nvSpPr>
          <p:cNvPr id="1816534714" name="Text 2"/>
          <p:cNvSpPr/>
          <p:nvPr/>
        </p:nvSpPr>
        <p:spPr bwMode="auto"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6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802.11 Management Frames — Signed or Unsigned?</a:t>
            </a:r>
            <a:endParaRPr lang="en-US" sz="2600"/>
          </a:p>
        </p:txBody>
      </p:sp>
      <p:sp>
        <p:nvSpPr>
          <p:cNvPr id="1404000399" name="Shape 3"/>
          <p:cNvSpPr/>
          <p:nvPr/>
        </p:nvSpPr>
        <p:spPr bwMode="auto">
          <a:xfrm>
            <a:off x="365760" y="128016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49813182" name="Shape 4"/>
          <p:cNvSpPr/>
          <p:nvPr/>
        </p:nvSpPr>
        <p:spPr bwMode="auto">
          <a:xfrm>
            <a:off x="365760" y="1280160"/>
            <a:ext cx="54864" cy="3474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58993712" name="Text 5"/>
          <p:cNvSpPr/>
          <p:nvPr/>
        </p:nvSpPr>
        <p:spPr bwMode="auto">
          <a:xfrm>
            <a:off x="54864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59E0B"/>
                </a:solidFill>
              </a:rPr>
              <a:t>What are Management Frames?</a:t>
            </a:r>
            <a:endParaRPr lang="en-US" sz="1300"/>
          </a:p>
        </p:txBody>
      </p:sp>
      <p:sp>
        <p:nvSpPr>
          <p:cNvPr id="977340291" name="Text 6"/>
          <p:cNvSpPr/>
          <p:nvPr/>
        </p:nvSpPr>
        <p:spPr bwMode="auto">
          <a:xfrm>
            <a:off x="548640" y="1783080"/>
            <a:ext cx="3566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475569"/>
                </a:solidFill>
              </a:rPr>
              <a:t>Wi-Fi communication is split into three frame types:</a:t>
            </a:r>
            <a:endParaRPr lang="en-US" sz="1100"/>
          </a:p>
          <a:p>
            <a:pPr marL="0" indent="0">
              <a:buNone/>
              <a:defRPr/>
            </a:pPr>
            <a:r>
              <a:rPr lang="en-US" sz="600">
                <a:solidFill>
                  <a:srgbClr val="000000"/>
                </a:solidFill>
              </a:rPr>
              <a:t> 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100" b="1">
                <a:solidFill>
                  <a:srgbClr val="0F172A"/>
                </a:solidFill>
              </a:rPr>
              <a:t>Data Frames</a:t>
            </a:r>
            <a:r>
              <a:rPr lang="en-US" sz="1100">
                <a:solidFill>
                  <a:srgbClr val="475569"/>
                </a:solidFill>
              </a:rPr>
              <a:t> — carry actual traffic (websites, videos, etc.)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100" b="1">
                <a:solidFill>
                  <a:srgbClr val="0F172A"/>
                </a:solidFill>
              </a:rPr>
              <a:t>Control Frames</a:t>
            </a:r>
            <a:r>
              <a:rPr lang="en-US" sz="1100">
                <a:solidFill>
                  <a:srgbClr val="475569"/>
                </a:solidFill>
              </a:rPr>
              <a:t> — low-level channel management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100" b="1">
                <a:solidFill>
                  <a:srgbClr val="F59E0B"/>
                </a:solidFill>
              </a:rPr>
              <a:t>Management Frames</a:t>
            </a:r>
            <a:r>
              <a:rPr lang="en-US" sz="1100">
                <a:solidFill>
                  <a:srgbClr val="475569"/>
                </a:solidFill>
              </a:rPr>
              <a:t> — connection lifecycle (associate, probe, authenticate, </a:t>
            </a:r>
            <a:r>
              <a:rPr lang="en-US" sz="1100" b="1">
                <a:solidFill>
                  <a:srgbClr val="EF4444"/>
                </a:solidFill>
              </a:rPr>
              <a:t>DEAUTHENTICATE</a:t>
            </a:r>
            <a:r>
              <a:rPr lang="en-US" sz="1100">
                <a:solidFill>
                  <a:srgbClr val="475569"/>
                </a:solidFill>
              </a:rPr>
              <a:t>)</a:t>
            </a:r>
            <a:endParaRPr lang="en-US" sz="1100"/>
          </a:p>
          <a:p>
            <a:pPr marL="0" indent="0">
              <a:buNone/>
              <a:defRPr/>
            </a:pPr>
            <a:r>
              <a:rPr lang="en-US" sz="800">
                <a:solidFill>
                  <a:srgbClr val="000000"/>
                </a:solidFill>
              </a:rPr>
              <a:t> 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100" b="1">
                <a:solidFill>
                  <a:srgbClr val="0F172A"/>
                </a:solidFill>
              </a:rPr>
              <a:t>The critical flaw: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100">
                <a:solidFill>
                  <a:srgbClr val="475569"/>
                </a:solidFill>
              </a:rPr>
              <a:t>In 802.11 (up to WPA2), management frames carry NO cryptographic signature. There is nothing preventing anyone from </a:t>
            </a:r>
            <a:r>
              <a:rPr lang="en-US" sz="1100" b="1" i="1">
                <a:solidFill>
                  <a:srgbClr val="EF4444"/>
                </a:solidFill>
              </a:rPr>
              <a:t>forging</a:t>
            </a:r>
            <a:r>
              <a:rPr lang="en-US" sz="1100">
                <a:solidFill>
                  <a:srgbClr val="475569"/>
                </a:solidFill>
              </a:rPr>
              <a:t> them.</a:t>
            </a:r>
            <a:endParaRPr lang="en-US" sz="1100"/>
          </a:p>
          <a:p>
            <a:pPr marL="0" indent="0">
              <a:buNone/>
              <a:defRPr/>
            </a:pPr>
            <a:r>
              <a:rPr lang="en-US" sz="800">
                <a:solidFill>
                  <a:srgbClr val="000000"/>
                </a:solidFill>
              </a:rPr>
              <a:t> 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100">
                <a:solidFill>
                  <a:srgbClr val="475569"/>
                </a:solidFill>
              </a:rPr>
              <a:t>A Deauthentication frame is simply the router saying to a client: "you are disconnected." Since it's unsigned, anyone can send one.</a:t>
            </a:r>
            <a:endParaRPr lang="en-US" sz="1100"/>
          </a:p>
        </p:txBody>
      </p:sp>
      <p:sp>
        <p:nvSpPr>
          <p:cNvPr id="1831553147" name="Shape 7"/>
          <p:cNvSpPr/>
          <p:nvPr/>
        </p:nvSpPr>
        <p:spPr bwMode="auto">
          <a:xfrm>
            <a:off x="4572000" y="1280160"/>
            <a:ext cx="42062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75584226" name="Shape 8"/>
          <p:cNvSpPr/>
          <p:nvPr/>
        </p:nvSpPr>
        <p:spPr bwMode="auto">
          <a:xfrm>
            <a:off x="4572000" y="1280160"/>
            <a:ext cx="54864" cy="3474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57964871" name="Text 9"/>
          <p:cNvSpPr/>
          <p:nvPr/>
        </p:nvSpPr>
        <p:spPr bwMode="auto">
          <a:xfrm>
            <a:off x="4754880" y="14173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EF4444"/>
                </a:solidFill>
              </a:rPr>
              <a:t>Deauth Frame Structure</a:t>
            </a:r>
            <a:endParaRPr lang="en-US" sz="1300"/>
          </a:p>
        </p:txBody>
      </p:sp>
      <p:sp>
        <p:nvSpPr>
          <p:cNvPr id="722634296" name="Shape 10"/>
          <p:cNvSpPr/>
          <p:nvPr/>
        </p:nvSpPr>
        <p:spPr bwMode="auto">
          <a:xfrm>
            <a:off x="4709160" y="1828800"/>
            <a:ext cx="384048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97981504" name="Text 11"/>
          <p:cNvSpPr/>
          <p:nvPr/>
        </p:nvSpPr>
        <p:spPr bwMode="auto">
          <a:xfrm>
            <a:off x="4754880" y="1847088"/>
            <a:ext cx="13716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475569"/>
                </a:solidFill>
              </a:rPr>
              <a:t>Frame Control</a:t>
            </a:r>
            <a:endParaRPr lang="en-US" sz="900"/>
          </a:p>
        </p:txBody>
      </p:sp>
      <p:sp>
        <p:nvSpPr>
          <p:cNvPr id="1361428212" name="Shape 12"/>
          <p:cNvSpPr/>
          <p:nvPr/>
        </p:nvSpPr>
        <p:spPr bwMode="auto">
          <a:xfrm>
            <a:off x="6080760" y="1828800"/>
            <a:ext cx="18288" cy="38404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4393717" name="Text 13"/>
          <p:cNvSpPr/>
          <p:nvPr/>
        </p:nvSpPr>
        <p:spPr bwMode="auto">
          <a:xfrm>
            <a:off x="6126480" y="1847088"/>
            <a:ext cx="23774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475569"/>
                </a:solidFill>
              </a:rPr>
              <a:t>Type: Management / Subtype: 0x0C (Deauth)</a:t>
            </a:r>
            <a:endParaRPr lang="en-US" sz="800"/>
          </a:p>
        </p:txBody>
      </p:sp>
      <p:sp>
        <p:nvSpPr>
          <p:cNvPr id="1113224173" name="Shape 14"/>
          <p:cNvSpPr/>
          <p:nvPr/>
        </p:nvSpPr>
        <p:spPr bwMode="auto">
          <a:xfrm>
            <a:off x="4709160" y="2286000"/>
            <a:ext cx="384048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08313054" name="Text 15"/>
          <p:cNvSpPr/>
          <p:nvPr/>
        </p:nvSpPr>
        <p:spPr bwMode="auto">
          <a:xfrm>
            <a:off x="4754880" y="2304288"/>
            <a:ext cx="13716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3B82F6"/>
                </a:solidFill>
              </a:rPr>
              <a:t>Destination MAC</a:t>
            </a:r>
            <a:endParaRPr lang="en-US" sz="900"/>
          </a:p>
        </p:txBody>
      </p:sp>
      <p:sp>
        <p:nvSpPr>
          <p:cNvPr id="1823938027" name="Shape 16"/>
          <p:cNvSpPr/>
          <p:nvPr/>
        </p:nvSpPr>
        <p:spPr bwMode="auto">
          <a:xfrm>
            <a:off x="6080760" y="2286000"/>
            <a:ext cx="18288" cy="38404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92053301" name="Text 17"/>
          <p:cNvSpPr/>
          <p:nvPr/>
        </p:nvSpPr>
        <p:spPr bwMode="auto">
          <a:xfrm>
            <a:off x="6126480" y="2304288"/>
            <a:ext cx="23774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475569"/>
                </a:solidFill>
              </a:rPr>
              <a:t>Target client (or FF:FF:FF:FF:FF:FF = broadcast)</a:t>
            </a:r>
            <a:endParaRPr lang="en-US" sz="800"/>
          </a:p>
        </p:txBody>
      </p:sp>
      <p:sp>
        <p:nvSpPr>
          <p:cNvPr id="542492826" name="Shape 18"/>
          <p:cNvSpPr/>
          <p:nvPr/>
        </p:nvSpPr>
        <p:spPr bwMode="auto">
          <a:xfrm>
            <a:off x="4709160" y="2743200"/>
            <a:ext cx="384048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8315369" name="Text 19"/>
          <p:cNvSpPr/>
          <p:nvPr/>
        </p:nvSpPr>
        <p:spPr bwMode="auto">
          <a:xfrm>
            <a:off x="4754880" y="2761488"/>
            <a:ext cx="13716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EF4444"/>
                </a:solidFill>
              </a:rPr>
              <a:t>Source MAC</a:t>
            </a:r>
            <a:endParaRPr lang="en-US" sz="900"/>
          </a:p>
        </p:txBody>
      </p:sp>
      <p:sp>
        <p:nvSpPr>
          <p:cNvPr id="599449995" name="Shape 20"/>
          <p:cNvSpPr/>
          <p:nvPr/>
        </p:nvSpPr>
        <p:spPr bwMode="auto">
          <a:xfrm>
            <a:off x="6080760" y="2743200"/>
            <a:ext cx="18288" cy="38404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015105" name="Text 21"/>
          <p:cNvSpPr/>
          <p:nvPr/>
        </p:nvSpPr>
        <p:spPr bwMode="auto">
          <a:xfrm>
            <a:off x="6126480" y="2761488"/>
            <a:ext cx="23774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475569"/>
                </a:solidFill>
              </a:rPr>
              <a:t>Spoofed — copied from real AP's BSSID</a:t>
            </a:r>
            <a:endParaRPr lang="en-US" sz="800"/>
          </a:p>
        </p:txBody>
      </p:sp>
      <p:sp>
        <p:nvSpPr>
          <p:cNvPr id="233847236" name="Shape 22"/>
          <p:cNvSpPr/>
          <p:nvPr/>
        </p:nvSpPr>
        <p:spPr bwMode="auto">
          <a:xfrm>
            <a:off x="4709160" y="3200400"/>
            <a:ext cx="384048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04053644" name="Text 23"/>
          <p:cNvSpPr/>
          <p:nvPr/>
        </p:nvSpPr>
        <p:spPr bwMode="auto">
          <a:xfrm>
            <a:off x="4754880" y="3218688"/>
            <a:ext cx="13716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EF4444"/>
                </a:solidFill>
              </a:rPr>
              <a:t>BSSID</a:t>
            </a:r>
            <a:endParaRPr lang="en-US" sz="900"/>
          </a:p>
        </p:txBody>
      </p:sp>
      <p:sp>
        <p:nvSpPr>
          <p:cNvPr id="279913534" name="Shape 24"/>
          <p:cNvSpPr/>
          <p:nvPr/>
        </p:nvSpPr>
        <p:spPr bwMode="auto">
          <a:xfrm>
            <a:off x="6080760" y="3200400"/>
            <a:ext cx="18288" cy="38404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32152757" name="Text 25"/>
          <p:cNvSpPr/>
          <p:nvPr/>
        </p:nvSpPr>
        <p:spPr bwMode="auto">
          <a:xfrm>
            <a:off x="6126480" y="3218688"/>
            <a:ext cx="23774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475569"/>
                </a:solidFill>
              </a:rPr>
              <a:t>Also spoofed to match AP</a:t>
            </a:r>
            <a:endParaRPr lang="en-US" sz="800"/>
          </a:p>
        </p:txBody>
      </p:sp>
      <p:sp>
        <p:nvSpPr>
          <p:cNvPr id="1444286332" name="Shape 26"/>
          <p:cNvSpPr/>
          <p:nvPr/>
        </p:nvSpPr>
        <p:spPr bwMode="auto">
          <a:xfrm>
            <a:off x="4709160" y="3657600"/>
            <a:ext cx="384048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54857045" name="Text 27"/>
          <p:cNvSpPr/>
          <p:nvPr/>
        </p:nvSpPr>
        <p:spPr bwMode="auto">
          <a:xfrm>
            <a:off x="4754880" y="3675888"/>
            <a:ext cx="13716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F59E0B"/>
                </a:solidFill>
              </a:rPr>
              <a:t>Reason Code</a:t>
            </a:r>
            <a:endParaRPr lang="en-US" sz="900"/>
          </a:p>
        </p:txBody>
      </p:sp>
      <p:sp>
        <p:nvSpPr>
          <p:cNvPr id="20280119" name="Shape 28"/>
          <p:cNvSpPr/>
          <p:nvPr/>
        </p:nvSpPr>
        <p:spPr bwMode="auto">
          <a:xfrm>
            <a:off x="6080760" y="3657600"/>
            <a:ext cx="18288" cy="38404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26162526" name="Text 29"/>
          <p:cNvSpPr/>
          <p:nvPr/>
        </p:nvSpPr>
        <p:spPr bwMode="auto">
          <a:xfrm>
            <a:off x="6126480" y="3675888"/>
            <a:ext cx="23774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475569"/>
                </a:solidFill>
              </a:rPr>
              <a:t>e.g. 0x0007 = 'Class 3 frame from unassoc station'</a:t>
            </a:r>
            <a:endParaRPr lang="en-US" sz="800"/>
          </a:p>
        </p:txBody>
      </p:sp>
      <p:sp>
        <p:nvSpPr>
          <p:cNvPr id="2133838073" name="Shape 30"/>
          <p:cNvSpPr/>
          <p:nvPr/>
        </p:nvSpPr>
        <p:spPr bwMode="auto">
          <a:xfrm>
            <a:off x="4709160" y="4114800"/>
            <a:ext cx="3840480" cy="384048"/>
          </a:xfrm>
          <a:prstGeom prst="rect">
            <a:avLst/>
          </a:prstGeom>
          <a:solidFill>
            <a:srgbClr val="FEF2F2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385682224" name="Text 31"/>
          <p:cNvSpPr/>
          <p:nvPr/>
        </p:nvSpPr>
        <p:spPr bwMode="auto">
          <a:xfrm>
            <a:off x="4754880" y="4133088"/>
            <a:ext cx="13716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EF4444"/>
                </a:solidFill>
              </a:rPr>
              <a:t>⚠ No Signature</a:t>
            </a:r>
            <a:endParaRPr lang="en-US" sz="900"/>
          </a:p>
        </p:txBody>
      </p:sp>
      <p:sp>
        <p:nvSpPr>
          <p:cNvPr id="595203904" name="Shape 32"/>
          <p:cNvSpPr/>
          <p:nvPr/>
        </p:nvSpPr>
        <p:spPr bwMode="auto">
          <a:xfrm>
            <a:off x="6080760" y="4114800"/>
            <a:ext cx="18288" cy="38404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16194644" name="Text 33"/>
          <p:cNvSpPr/>
          <p:nvPr/>
        </p:nvSpPr>
        <p:spPr bwMode="auto">
          <a:xfrm>
            <a:off x="6126480" y="4133088"/>
            <a:ext cx="23774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475569"/>
                </a:solidFill>
              </a:rPr>
              <a:t>Nothing to verify who sent this frame</a:t>
            </a:r>
            <a:endParaRPr lang="en-US" sz="800"/>
          </a:p>
        </p:txBody>
      </p:sp>
      <p:pic>
        <p:nvPicPr>
          <p:cNvPr id="649303946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046720" y="1325880"/>
            <a:ext cx="502920" cy="5029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8314795" name="Shape 0"/>
          <p:cNvSpPr/>
          <p:nvPr/>
        </p:nvSpPr>
        <p:spPr bwMode="auto">
          <a:xfrm>
            <a:off x="0" y="0"/>
            <a:ext cx="914400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14279000" name="Text 1"/>
          <p:cNvSpPr/>
          <p:nvPr/>
        </p:nvSpPr>
        <p:spPr bwMode="auto"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000" b="1" spc="500">
                <a:solidFill>
                  <a:srgbClr val="EF4444"/>
                </a:solidFill>
              </a:rPr>
              <a:t>ATTACK #1</a:t>
            </a:r>
            <a:endParaRPr lang="en-US" sz="1000"/>
          </a:p>
        </p:txBody>
      </p:sp>
      <p:sp>
        <p:nvSpPr>
          <p:cNvPr id="1656851175" name="Text 2"/>
          <p:cNvSpPr/>
          <p:nvPr/>
        </p:nvSpPr>
        <p:spPr bwMode="auto"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6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Deauthentication Attack — Attack Flow</a:t>
            </a:r>
            <a:endParaRPr lang="en-US" sz="2600"/>
          </a:p>
        </p:txBody>
      </p:sp>
      <p:sp>
        <p:nvSpPr>
          <p:cNvPr id="1875246341" name="Shape 3"/>
          <p:cNvSpPr/>
          <p:nvPr/>
        </p:nvSpPr>
        <p:spPr bwMode="auto">
          <a:xfrm>
            <a:off x="890737" y="1371600"/>
            <a:ext cx="164592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570895524" name="Shape 4"/>
          <p:cNvSpPr/>
          <p:nvPr/>
        </p:nvSpPr>
        <p:spPr bwMode="auto">
          <a:xfrm>
            <a:off x="890737" y="1371600"/>
            <a:ext cx="1645920" cy="320040"/>
          </a:xfrm>
          <a:prstGeom prst="rect">
            <a:avLst/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82932702" name="Text 5"/>
          <p:cNvSpPr/>
          <p:nvPr/>
        </p:nvSpPr>
        <p:spPr bwMode="auto">
          <a:xfrm>
            <a:off x="890737" y="13716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3B82F6"/>
                </a:solidFill>
              </a:rPr>
              <a:t>1</a:t>
            </a:r>
            <a:endParaRPr lang="en-US" sz="1400"/>
          </a:p>
        </p:txBody>
      </p:sp>
      <p:sp>
        <p:nvSpPr>
          <p:cNvPr id="495108824" name="Text 6"/>
          <p:cNvSpPr/>
          <p:nvPr/>
        </p:nvSpPr>
        <p:spPr bwMode="auto">
          <a:xfrm>
            <a:off x="1302217" y="1389887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3B82F6"/>
                </a:solidFill>
              </a:rPr>
              <a:t>Monitor Mode</a:t>
            </a:r>
            <a:endParaRPr lang="en-US" sz="900"/>
          </a:p>
        </p:txBody>
      </p:sp>
      <p:sp>
        <p:nvSpPr>
          <p:cNvPr id="205658751" name="Text 7"/>
          <p:cNvSpPr/>
          <p:nvPr/>
        </p:nvSpPr>
        <p:spPr bwMode="auto">
          <a:xfrm>
            <a:off x="982177" y="173736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475569"/>
                </a:solidFill>
              </a:rPr>
              <a:t>airmon-ng start wlan0</a:t>
            </a:r>
            <a:endParaRPr lang="en-US" sz="800"/>
          </a:p>
          <a:p>
            <a:pPr marL="0" indent="0" algn="ctr">
              <a:buNone/>
              <a:defRPr/>
            </a:pPr>
            <a:r>
              <a:rPr lang="en-US" sz="800">
                <a:solidFill>
                  <a:srgbClr val="475569"/>
                </a:solidFill>
              </a:rPr>
              <a:t>NIC listens to all traffic</a:t>
            </a:r>
            <a:endParaRPr lang="en-US" sz="800"/>
          </a:p>
        </p:txBody>
      </p:sp>
      <p:sp>
        <p:nvSpPr>
          <p:cNvPr id="1245623748" name="Shape 8"/>
          <p:cNvSpPr/>
          <p:nvPr/>
        </p:nvSpPr>
        <p:spPr bwMode="auto">
          <a:xfrm>
            <a:off x="3176737" y="1371600"/>
            <a:ext cx="164592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44194027" name="Shape 9"/>
          <p:cNvSpPr/>
          <p:nvPr/>
        </p:nvSpPr>
        <p:spPr bwMode="auto">
          <a:xfrm>
            <a:off x="3176737" y="1371600"/>
            <a:ext cx="1645920" cy="320040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80045326" name="Text 10"/>
          <p:cNvSpPr/>
          <p:nvPr/>
        </p:nvSpPr>
        <p:spPr bwMode="auto">
          <a:xfrm>
            <a:off x="3176737" y="13716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10B981"/>
                </a:solidFill>
              </a:rPr>
              <a:t>2</a:t>
            </a:r>
            <a:endParaRPr lang="en-US" sz="1400"/>
          </a:p>
        </p:txBody>
      </p:sp>
      <p:sp>
        <p:nvSpPr>
          <p:cNvPr id="1031199018" name="Text 11"/>
          <p:cNvSpPr/>
          <p:nvPr/>
        </p:nvSpPr>
        <p:spPr bwMode="auto">
          <a:xfrm>
            <a:off x="3588217" y="1389887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10B981"/>
                </a:solidFill>
              </a:rPr>
              <a:t>Passive Scan</a:t>
            </a:r>
            <a:endParaRPr lang="en-US" sz="900"/>
          </a:p>
        </p:txBody>
      </p:sp>
      <p:sp>
        <p:nvSpPr>
          <p:cNvPr id="279607524" name="Text 12"/>
          <p:cNvSpPr/>
          <p:nvPr/>
        </p:nvSpPr>
        <p:spPr bwMode="auto">
          <a:xfrm>
            <a:off x="3268177" y="173736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475569"/>
                </a:solidFill>
              </a:rPr>
              <a:t>airodump-ng wlan0mon</a:t>
            </a:r>
            <a:endParaRPr lang="en-US" sz="800"/>
          </a:p>
          <a:p>
            <a:pPr marL="0" indent="0" algn="ctr">
              <a:buNone/>
              <a:defRPr/>
            </a:pPr>
            <a:r>
              <a:rPr lang="en-US" sz="800">
                <a:solidFill>
                  <a:srgbClr val="475569"/>
                </a:solidFill>
              </a:rPr>
              <a:t>Capture beacon frames</a:t>
            </a:r>
            <a:endParaRPr lang="en-US" sz="800"/>
          </a:p>
        </p:txBody>
      </p:sp>
      <p:sp>
        <p:nvSpPr>
          <p:cNvPr id="549214228" name="Shape 13"/>
          <p:cNvSpPr/>
          <p:nvPr/>
        </p:nvSpPr>
        <p:spPr bwMode="auto">
          <a:xfrm>
            <a:off x="5462737" y="1371600"/>
            <a:ext cx="164592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294838286" name="Shape 14"/>
          <p:cNvSpPr/>
          <p:nvPr/>
        </p:nvSpPr>
        <p:spPr bwMode="auto">
          <a:xfrm>
            <a:off x="5462737" y="1371600"/>
            <a:ext cx="1645920" cy="320040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64012161" name="Text 15"/>
          <p:cNvSpPr/>
          <p:nvPr/>
        </p:nvSpPr>
        <p:spPr bwMode="auto">
          <a:xfrm>
            <a:off x="5462737" y="13716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59E0B"/>
                </a:solidFill>
              </a:rPr>
              <a:t>3</a:t>
            </a:r>
            <a:endParaRPr lang="en-US" sz="1400"/>
          </a:p>
        </p:txBody>
      </p:sp>
      <p:sp>
        <p:nvSpPr>
          <p:cNvPr id="1116842548" name="Text 16"/>
          <p:cNvSpPr/>
          <p:nvPr/>
        </p:nvSpPr>
        <p:spPr bwMode="auto">
          <a:xfrm>
            <a:off x="5874216" y="1389887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F59E0B"/>
                </a:solidFill>
              </a:rPr>
              <a:t>Select Targets</a:t>
            </a:r>
            <a:endParaRPr lang="en-US" sz="900"/>
          </a:p>
        </p:txBody>
      </p:sp>
      <p:sp>
        <p:nvSpPr>
          <p:cNvPr id="566625291" name="Text 17"/>
          <p:cNvSpPr/>
          <p:nvPr/>
        </p:nvSpPr>
        <p:spPr bwMode="auto">
          <a:xfrm>
            <a:off x="5554177" y="173736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475569"/>
                </a:solidFill>
              </a:rPr>
              <a:t>Pick AP BSSID</a:t>
            </a:r>
            <a:endParaRPr lang="en-US" sz="800"/>
          </a:p>
          <a:p>
            <a:pPr marL="0" indent="0" algn="ctr">
              <a:buNone/>
              <a:defRPr/>
            </a:pPr>
            <a:r>
              <a:rPr lang="en-US" sz="800">
                <a:solidFill>
                  <a:srgbClr val="475569"/>
                </a:solidFill>
              </a:rPr>
              <a:t>and Client MAC</a:t>
            </a:r>
            <a:endParaRPr lang="en-US" sz="800"/>
          </a:p>
        </p:txBody>
      </p:sp>
      <p:sp>
        <p:nvSpPr>
          <p:cNvPr id="1321374078" name="Shape 18"/>
          <p:cNvSpPr/>
          <p:nvPr/>
        </p:nvSpPr>
        <p:spPr bwMode="auto">
          <a:xfrm>
            <a:off x="5465244" y="3017519"/>
            <a:ext cx="164592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497861622" name="Shape 19"/>
          <p:cNvSpPr/>
          <p:nvPr/>
        </p:nvSpPr>
        <p:spPr bwMode="auto">
          <a:xfrm>
            <a:off x="5465244" y="3017519"/>
            <a:ext cx="1645920" cy="320040"/>
          </a:xfrm>
          <a:prstGeom prst="rect">
            <a:avLst/>
          </a:prstGeom>
          <a:solidFill>
            <a:srgbClr val="8B5CF6">
              <a:alpha val="1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88244143" name="Text 20"/>
          <p:cNvSpPr/>
          <p:nvPr/>
        </p:nvSpPr>
        <p:spPr bwMode="auto">
          <a:xfrm>
            <a:off x="5465244" y="3017519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8B5CF6"/>
                </a:solidFill>
              </a:rPr>
              <a:t>4</a:t>
            </a:r>
            <a:endParaRPr lang="en-US" sz="1400"/>
          </a:p>
        </p:txBody>
      </p:sp>
      <p:sp>
        <p:nvSpPr>
          <p:cNvPr id="1374973112" name="Text 21"/>
          <p:cNvSpPr/>
          <p:nvPr/>
        </p:nvSpPr>
        <p:spPr bwMode="auto">
          <a:xfrm>
            <a:off x="5876724" y="3035808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8B5CF6"/>
                </a:solidFill>
              </a:rPr>
              <a:t>Forge Deauth</a:t>
            </a:r>
            <a:endParaRPr lang="en-US" sz="900"/>
          </a:p>
        </p:txBody>
      </p:sp>
      <p:sp>
        <p:nvSpPr>
          <p:cNvPr id="1070523006" name="Text 22"/>
          <p:cNvSpPr/>
          <p:nvPr/>
        </p:nvSpPr>
        <p:spPr bwMode="auto">
          <a:xfrm>
            <a:off x="5556683" y="338328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475569"/>
                </a:solidFill>
              </a:rPr>
              <a:t>Craft frame with</a:t>
            </a:r>
            <a:endParaRPr lang="en-US" sz="800"/>
          </a:p>
          <a:p>
            <a:pPr marL="0" indent="0" algn="ctr">
              <a:buNone/>
              <a:defRPr/>
            </a:pPr>
            <a:r>
              <a:rPr lang="en-US" sz="800">
                <a:solidFill>
                  <a:srgbClr val="475569"/>
                </a:solidFill>
              </a:rPr>
              <a:t>spoofed source MAC</a:t>
            </a:r>
            <a:endParaRPr lang="en-US" sz="800"/>
          </a:p>
        </p:txBody>
      </p:sp>
      <p:sp>
        <p:nvSpPr>
          <p:cNvPr id="1626995051" name="Shape 23"/>
          <p:cNvSpPr/>
          <p:nvPr/>
        </p:nvSpPr>
        <p:spPr bwMode="auto">
          <a:xfrm>
            <a:off x="3176737" y="3017519"/>
            <a:ext cx="164592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857437552" name="Shape 24"/>
          <p:cNvSpPr/>
          <p:nvPr/>
        </p:nvSpPr>
        <p:spPr bwMode="auto">
          <a:xfrm>
            <a:off x="3176737" y="3017519"/>
            <a:ext cx="1645920" cy="320040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79563211" name="Text 25"/>
          <p:cNvSpPr/>
          <p:nvPr/>
        </p:nvSpPr>
        <p:spPr bwMode="auto">
          <a:xfrm>
            <a:off x="3176737" y="3017519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EF4444"/>
                </a:solidFill>
              </a:rPr>
              <a:t>5</a:t>
            </a:r>
            <a:endParaRPr lang="en-US" sz="1400"/>
          </a:p>
        </p:txBody>
      </p:sp>
      <p:sp>
        <p:nvSpPr>
          <p:cNvPr id="327935770" name="Text 26"/>
          <p:cNvSpPr/>
          <p:nvPr/>
        </p:nvSpPr>
        <p:spPr bwMode="auto">
          <a:xfrm>
            <a:off x="3588217" y="3035808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EF4444"/>
                </a:solidFill>
              </a:rPr>
              <a:t>Inject Frames</a:t>
            </a:r>
            <a:endParaRPr lang="en-US" sz="900"/>
          </a:p>
        </p:txBody>
      </p:sp>
      <p:sp>
        <p:nvSpPr>
          <p:cNvPr id="228837205" name="Text 27"/>
          <p:cNvSpPr/>
          <p:nvPr/>
        </p:nvSpPr>
        <p:spPr bwMode="auto">
          <a:xfrm>
            <a:off x="3268177" y="338328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475569"/>
                </a:solidFill>
              </a:rPr>
              <a:t>aireplay-ng -0 0</a:t>
            </a:r>
            <a:endParaRPr lang="en-US" sz="800"/>
          </a:p>
          <a:p>
            <a:pPr marL="0" indent="0" algn="ctr">
              <a:buNone/>
              <a:defRPr/>
            </a:pPr>
            <a:r>
              <a:rPr lang="en-US" sz="800">
                <a:solidFill>
                  <a:srgbClr val="475569"/>
                </a:solidFill>
              </a:rPr>
              <a:t>Continuous flood</a:t>
            </a:r>
            <a:endParaRPr lang="en-US" sz="800"/>
          </a:p>
        </p:txBody>
      </p:sp>
      <p:sp>
        <p:nvSpPr>
          <p:cNvPr id="2079441881" name="Shape 28"/>
          <p:cNvSpPr/>
          <p:nvPr/>
        </p:nvSpPr>
        <p:spPr bwMode="auto">
          <a:xfrm>
            <a:off x="888231" y="3017519"/>
            <a:ext cx="164592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933989924" name="Shape 29"/>
          <p:cNvSpPr/>
          <p:nvPr/>
        </p:nvSpPr>
        <p:spPr bwMode="auto">
          <a:xfrm>
            <a:off x="888231" y="3017519"/>
            <a:ext cx="1645920" cy="320040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70612252" name="Text 30"/>
          <p:cNvSpPr/>
          <p:nvPr/>
        </p:nvSpPr>
        <p:spPr bwMode="auto">
          <a:xfrm>
            <a:off x="888231" y="3017519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EF4444"/>
                </a:solidFill>
              </a:rPr>
              <a:t>6</a:t>
            </a:r>
            <a:endParaRPr lang="en-US" sz="1400"/>
          </a:p>
        </p:txBody>
      </p:sp>
      <p:sp>
        <p:nvSpPr>
          <p:cNvPr id="1256451012" name="Text 31"/>
          <p:cNvSpPr/>
          <p:nvPr/>
        </p:nvSpPr>
        <p:spPr bwMode="auto">
          <a:xfrm>
            <a:off x="1299711" y="3035808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EF4444"/>
                </a:solidFill>
              </a:rPr>
              <a:t>Client Drops</a:t>
            </a:r>
            <a:endParaRPr lang="en-US" sz="900"/>
          </a:p>
        </p:txBody>
      </p:sp>
      <p:sp>
        <p:nvSpPr>
          <p:cNvPr id="496003040" name="Text 32"/>
          <p:cNvSpPr/>
          <p:nvPr/>
        </p:nvSpPr>
        <p:spPr bwMode="auto">
          <a:xfrm>
            <a:off x="979671" y="338328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475569"/>
                </a:solidFill>
              </a:rPr>
              <a:t>Victim disconnects</a:t>
            </a:r>
            <a:endParaRPr lang="en-US" sz="800"/>
          </a:p>
          <a:p>
            <a:pPr marL="0" indent="0" algn="ctr">
              <a:buNone/>
              <a:defRPr/>
            </a:pPr>
            <a:r>
              <a:rPr lang="en-US" sz="800">
                <a:solidFill>
                  <a:srgbClr val="475569"/>
                </a:solidFill>
              </a:rPr>
              <a:t>Cannot reconnect</a:t>
            </a:r>
            <a:endParaRPr lang="en-US" sz="800"/>
          </a:p>
        </p:txBody>
      </p:sp>
      <p:sp>
        <p:nvSpPr>
          <p:cNvPr id="709399766" name="Shape 33"/>
          <p:cNvSpPr/>
          <p:nvPr/>
        </p:nvSpPr>
        <p:spPr bwMode="auto">
          <a:xfrm>
            <a:off x="2536656" y="1874520"/>
            <a:ext cx="6400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252243138" name="Shape 34"/>
          <p:cNvSpPr/>
          <p:nvPr/>
        </p:nvSpPr>
        <p:spPr bwMode="auto">
          <a:xfrm>
            <a:off x="4822657" y="1874520"/>
            <a:ext cx="6400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516694192" name="Shape 35"/>
          <p:cNvSpPr/>
          <p:nvPr/>
        </p:nvSpPr>
        <p:spPr bwMode="auto">
          <a:xfrm>
            <a:off x="6285697" y="2377440"/>
            <a:ext cx="0" cy="64008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343682472" name="Shape 36"/>
          <p:cNvSpPr/>
          <p:nvPr/>
        </p:nvSpPr>
        <p:spPr bwMode="auto">
          <a:xfrm>
            <a:off x="4822657" y="3520440"/>
            <a:ext cx="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677190684" name="Shape 37"/>
          <p:cNvSpPr/>
          <p:nvPr/>
        </p:nvSpPr>
        <p:spPr bwMode="auto">
          <a:xfrm>
            <a:off x="7111164" y="3520440"/>
            <a:ext cx="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73478983" name="Shape 38"/>
          <p:cNvSpPr/>
          <p:nvPr/>
        </p:nvSpPr>
        <p:spPr bwMode="auto">
          <a:xfrm>
            <a:off x="365760" y="4389120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11831635" name="Shape 39"/>
          <p:cNvSpPr/>
          <p:nvPr/>
        </p:nvSpPr>
        <p:spPr bwMode="auto">
          <a:xfrm>
            <a:off x="365760" y="4389120"/>
            <a:ext cx="54864" cy="5486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12028334" name="Text 40"/>
          <p:cNvSpPr/>
          <p:nvPr/>
        </p:nvSpPr>
        <p:spPr bwMode="auto">
          <a:xfrm>
            <a:off x="594360" y="4462272"/>
            <a:ext cx="795528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Command: sudo aireplay-ng -0 0 -a [AP_BSSID] -c [CLIENT_MAC] wlan0mon</a:t>
            </a:r>
            <a:endParaRPr lang="en-US" sz="1000"/>
          </a:p>
        </p:txBody>
      </p:sp>
      <p:sp>
        <p:nvSpPr>
          <p:cNvPr id="2043313336" name="Shape 33"/>
          <p:cNvSpPr/>
          <p:nvPr/>
        </p:nvSpPr>
        <p:spPr bwMode="auto">
          <a:xfrm>
            <a:off x="2536656" y="3680459"/>
            <a:ext cx="6400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562053807" name="Shape 33"/>
          <p:cNvSpPr/>
          <p:nvPr/>
        </p:nvSpPr>
        <p:spPr bwMode="auto">
          <a:xfrm>
            <a:off x="4822657" y="3680460"/>
            <a:ext cx="6400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6782304" name="Shape 0"/>
          <p:cNvSpPr/>
          <p:nvPr/>
        </p:nvSpPr>
        <p:spPr bwMode="auto">
          <a:xfrm>
            <a:off x="0" y="0"/>
            <a:ext cx="914400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1338836" name="Text 1"/>
          <p:cNvSpPr/>
          <p:nvPr/>
        </p:nvSpPr>
        <p:spPr bwMode="auto"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000" b="1" spc="500">
                <a:solidFill>
                  <a:srgbClr val="8B5CF6"/>
                </a:solidFill>
              </a:rPr>
              <a:t>ATTACK #2</a:t>
            </a:r>
            <a:endParaRPr lang="en-US" sz="1000"/>
          </a:p>
        </p:txBody>
      </p:sp>
      <p:sp>
        <p:nvSpPr>
          <p:cNvPr id="1609526404" name="Text 2"/>
          <p:cNvSpPr/>
          <p:nvPr/>
        </p:nvSpPr>
        <p:spPr bwMode="auto"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6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The Evil Twin — A Rogue Access Point</a:t>
            </a:r>
            <a:endParaRPr lang="en-US" sz="2600"/>
          </a:p>
        </p:txBody>
      </p:sp>
      <p:sp>
        <p:nvSpPr>
          <p:cNvPr id="1504110928" name="Shape 3"/>
          <p:cNvSpPr/>
          <p:nvPr/>
        </p:nvSpPr>
        <p:spPr bwMode="auto">
          <a:xfrm>
            <a:off x="365760" y="118872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13372341" name="Shape 4"/>
          <p:cNvSpPr/>
          <p:nvPr/>
        </p:nvSpPr>
        <p:spPr bwMode="auto">
          <a:xfrm>
            <a:off x="365760" y="1188720"/>
            <a:ext cx="54864" cy="36576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54721365" name="Text 5"/>
          <p:cNvSpPr/>
          <p:nvPr/>
        </p:nvSpPr>
        <p:spPr bwMode="auto">
          <a:xfrm>
            <a:off x="566928" y="12984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8B5CF6"/>
                </a:solidFill>
              </a:rPr>
              <a:t>Core Concept</a:t>
            </a:r>
            <a:endParaRPr lang="en-US" sz="1300"/>
          </a:p>
        </p:txBody>
      </p:sp>
      <p:sp>
        <p:nvSpPr>
          <p:cNvPr id="307538446" name="Text 6"/>
          <p:cNvSpPr/>
          <p:nvPr/>
        </p:nvSpPr>
        <p:spPr bwMode="auto">
          <a:xfrm>
            <a:off x="594360" y="1682496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475569"/>
                </a:solidFill>
              </a:rPr>
              <a:t>An Evil Twin is a rogue Wi-Fi access point that </a:t>
            </a:r>
            <a:r>
              <a:rPr lang="en-US" sz="1100" b="1">
                <a:solidFill>
                  <a:srgbClr val="0F172A"/>
                </a:solidFill>
              </a:rPr>
              <a:t>impersonates a legitimate network</a:t>
            </a:r>
            <a:r>
              <a:rPr lang="en-US" sz="1100">
                <a:solidFill>
                  <a:srgbClr val="475569"/>
                </a:solidFill>
              </a:rPr>
              <a:t> by broadcasting the same SSID (network name).</a:t>
            </a:r>
            <a:endParaRPr lang="en-US" sz="1100"/>
          </a:p>
          <a:p>
            <a:pPr marL="0" indent="0">
              <a:buNone/>
              <a:defRPr/>
            </a:pPr>
            <a:r>
              <a:rPr lang="en-US" sz="700">
                <a:solidFill>
                  <a:srgbClr val="000000"/>
                </a:solidFill>
              </a:rPr>
              <a:t> 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100" b="1">
                <a:solidFill>
                  <a:srgbClr val="0F172A"/>
                </a:solidFill>
              </a:rPr>
              <a:t>Why it works: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100">
                <a:solidFill>
                  <a:srgbClr val="475569"/>
                </a:solidFill>
              </a:rPr>
              <a:t>Devices auto-connect to known SSIDs. If two networks have the same name, the device picks the one with the </a:t>
            </a:r>
            <a:r>
              <a:rPr lang="en-US" sz="1100" b="1">
                <a:solidFill>
                  <a:srgbClr val="EF4444"/>
                </a:solidFill>
              </a:rPr>
              <a:t>stronger signal</a:t>
            </a:r>
            <a:r>
              <a:rPr lang="en-US" sz="1100">
                <a:solidFill>
                  <a:srgbClr val="475569"/>
                </a:solidFill>
              </a:rPr>
              <a:t>. The attacker can boost their radio power to win.</a:t>
            </a:r>
            <a:endParaRPr lang="en-US" sz="1100"/>
          </a:p>
          <a:p>
            <a:pPr marL="0" indent="0">
              <a:buNone/>
              <a:defRPr/>
            </a:pPr>
            <a:r>
              <a:rPr lang="en-US" sz="700">
                <a:solidFill>
                  <a:srgbClr val="000000"/>
                </a:solidFill>
              </a:rPr>
              <a:t> 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100" b="1">
                <a:solidFill>
                  <a:srgbClr val="0F172A"/>
                </a:solidFill>
              </a:rPr>
              <a:t>What the attacker gains: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100">
                <a:solidFill>
                  <a:srgbClr val="475569"/>
                </a:solidFill>
              </a:rPr>
              <a:t>Once connected, the victim's traffic goes through the attacker's AP. This enables:</a:t>
            </a:r>
            <a:endParaRPr lang="en-US" sz="1100"/>
          </a:p>
          <a:p>
            <a:pPr marL="0" indent="0">
              <a:buNone/>
              <a:defRPr/>
            </a:pPr>
            <a:r>
              <a:rPr lang="en-US" sz="400">
                <a:solidFill>
                  <a:srgbClr val="000000"/>
                </a:solidFill>
              </a:rPr>
              <a:t> </a:t>
            </a:r>
            <a:endParaRPr lang="en-US" sz="1100"/>
          </a:p>
          <a:p>
            <a:pPr marL="342900" indent="-342900">
              <a:buSzPct val="100000"/>
              <a:buChar char="•"/>
              <a:defRPr/>
            </a:pPr>
            <a:r>
              <a:rPr lang="en-US" sz="1000">
                <a:solidFill>
                  <a:srgbClr val="475569"/>
                </a:solidFill>
              </a:rPr>
              <a:t>  Traffic interception (MITM)</a:t>
            </a:r>
            <a:endParaRPr lang="en-US" sz="1100"/>
          </a:p>
          <a:p>
            <a:pPr marL="342900" indent="-342900">
              <a:buSzPct val="100000"/>
              <a:buChar char="•"/>
              <a:defRPr/>
            </a:pPr>
            <a:r>
              <a:rPr lang="en-US" sz="1000">
                <a:solidFill>
                  <a:srgbClr val="475569"/>
                </a:solidFill>
              </a:rPr>
              <a:t>  Captive portal — fake login page harvesting credentials</a:t>
            </a:r>
            <a:endParaRPr lang="en-US" sz="1100"/>
          </a:p>
          <a:p>
            <a:pPr marL="342900" indent="-342900">
              <a:buSzPct val="100000"/>
              <a:buChar char="•"/>
              <a:defRPr/>
            </a:pPr>
            <a:r>
              <a:rPr lang="en-US" sz="1000">
                <a:solidFill>
                  <a:srgbClr val="475569"/>
                </a:solidFill>
              </a:rPr>
              <a:t>  DNS spoofing — redirect to phishing sites</a:t>
            </a:r>
            <a:endParaRPr lang="en-US" sz="1100"/>
          </a:p>
          <a:p>
            <a:pPr marL="342900" indent="-342900">
              <a:buSzPct val="100000"/>
              <a:buChar char="•"/>
              <a:defRPr/>
            </a:pPr>
            <a:r>
              <a:rPr lang="en-US" sz="1000">
                <a:solidFill>
                  <a:srgbClr val="475569"/>
                </a:solidFill>
              </a:rPr>
              <a:t>  SSL stripping (if HSTS not enforced)</a:t>
            </a:r>
            <a:endParaRPr lang="en-US" sz="1100"/>
          </a:p>
        </p:txBody>
      </p:sp>
      <p:sp>
        <p:nvSpPr>
          <p:cNvPr id="1164289436" name="Shape 7"/>
          <p:cNvSpPr/>
          <p:nvPr/>
        </p:nvSpPr>
        <p:spPr bwMode="auto">
          <a:xfrm>
            <a:off x="4480560" y="1188720"/>
            <a:ext cx="42976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9309710" name="Shape 8"/>
          <p:cNvSpPr/>
          <p:nvPr/>
        </p:nvSpPr>
        <p:spPr bwMode="auto">
          <a:xfrm>
            <a:off x="4480560" y="1188720"/>
            <a:ext cx="54864" cy="36576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43185488" name="Text 9"/>
          <p:cNvSpPr/>
          <p:nvPr/>
        </p:nvSpPr>
        <p:spPr bwMode="auto">
          <a:xfrm>
            <a:off x="4663440" y="12984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475569"/>
                </a:solidFill>
              </a:rPr>
              <a:t>Real AP  vs  Evil Twin</a:t>
            </a:r>
            <a:endParaRPr lang="en-US" sz="1300"/>
          </a:p>
        </p:txBody>
      </p:sp>
      <p:sp>
        <p:nvSpPr>
          <p:cNvPr id="460390318" name="Shape 10"/>
          <p:cNvSpPr/>
          <p:nvPr/>
        </p:nvSpPr>
        <p:spPr bwMode="auto">
          <a:xfrm>
            <a:off x="4663440" y="1691640"/>
            <a:ext cx="1737360" cy="1463040"/>
          </a:xfrm>
          <a:prstGeom prst="rect">
            <a:avLst/>
          </a:prstGeom>
          <a:solidFill>
            <a:srgbClr val="F1F5F9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674249621" name="Text 11"/>
          <p:cNvSpPr/>
          <p:nvPr/>
        </p:nvSpPr>
        <p:spPr bwMode="auto">
          <a:xfrm>
            <a:off x="4663440" y="17190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10B981"/>
                </a:solidFill>
              </a:rPr>
              <a:t>REAL AP</a:t>
            </a:r>
            <a:endParaRPr lang="en-US" sz="900"/>
          </a:p>
        </p:txBody>
      </p:sp>
      <p:pic>
        <p:nvPicPr>
          <p:cNvPr id="1512729111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234136" y="2011680"/>
            <a:ext cx="548640" cy="548640"/>
          </a:xfrm>
          <a:prstGeom prst="rect">
            <a:avLst/>
          </a:prstGeom>
        </p:spPr>
      </p:pic>
      <p:sp>
        <p:nvSpPr>
          <p:cNvPr id="1341391659" name="Text 12"/>
          <p:cNvSpPr/>
          <p:nvPr/>
        </p:nvSpPr>
        <p:spPr bwMode="auto">
          <a:xfrm>
            <a:off x="4663440" y="26060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10B981"/>
                </a:solidFill>
              </a:rPr>
              <a:t>SSID: HomeNet</a:t>
            </a:r>
            <a:br>
              <a:rPr lang="en-US" sz="900">
                <a:solidFill>
                  <a:srgbClr val="10B981"/>
                </a:solidFill>
              </a:rPr>
            </a:br>
            <a:r>
              <a:rPr lang="en-US" sz="900">
                <a:solidFill>
                  <a:srgbClr val="475569"/>
                </a:solidFill>
              </a:rPr>
              <a:t>Auth: WPA2</a:t>
            </a:r>
            <a:br>
              <a:rPr lang="en-US" sz="900">
                <a:solidFill>
                  <a:srgbClr val="475569"/>
                </a:solidFill>
              </a:rPr>
            </a:br>
            <a:r>
              <a:rPr lang="en-US" sz="900">
                <a:solidFill>
                  <a:srgbClr val="10B981"/>
                </a:solidFill>
              </a:rPr>
              <a:t>Has Internet ✓</a:t>
            </a:r>
            <a:endParaRPr lang="en-US" sz="900"/>
          </a:p>
        </p:txBody>
      </p:sp>
      <p:sp>
        <p:nvSpPr>
          <p:cNvPr id="1083383308" name="Text 13"/>
          <p:cNvSpPr/>
          <p:nvPr/>
        </p:nvSpPr>
        <p:spPr bwMode="auto">
          <a:xfrm>
            <a:off x="6355080" y="21945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475569"/>
                </a:solidFill>
              </a:rPr>
              <a:t>VS</a:t>
            </a:r>
            <a:endParaRPr lang="en-US" sz="1600"/>
          </a:p>
        </p:txBody>
      </p:sp>
      <p:sp>
        <p:nvSpPr>
          <p:cNvPr id="57920320" name="Shape 14"/>
          <p:cNvSpPr/>
          <p:nvPr/>
        </p:nvSpPr>
        <p:spPr bwMode="auto">
          <a:xfrm>
            <a:off x="6812280" y="1691640"/>
            <a:ext cx="1737360" cy="1463040"/>
          </a:xfrm>
          <a:prstGeom prst="rect">
            <a:avLst/>
          </a:prstGeom>
          <a:solidFill>
            <a:srgbClr val="FEF2F2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97320328" name="Text 15"/>
          <p:cNvSpPr/>
          <p:nvPr/>
        </p:nvSpPr>
        <p:spPr bwMode="auto">
          <a:xfrm>
            <a:off x="6812280" y="17190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EF4444"/>
                </a:solidFill>
              </a:rPr>
              <a:t>EVIL TWIN</a:t>
            </a:r>
            <a:endParaRPr lang="en-US" sz="900"/>
          </a:p>
        </p:txBody>
      </p:sp>
      <p:pic>
        <p:nvPicPr>
          <p:cNvPr id="1296471832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7382977" y="2011680"/>
            <a:ext cx="548640" cy="548640"/>
          </a:xfrm>
          <a:prstGeom prst="rect">
            <a:avLst/>
          </a:prstGeom>
        </p:spPr>
      </p:pic>
      <p:sp>
        <p:nvSpPr>
          <p:cNvPr id="1028694226" name="Text 16"/>
          <p:cNvSpPr/>
          <p:nvPr/>
        </p:nvSpPr>
        <p:spPr bwMode="auto">
          <a:xfrm>
            <a:off x="6812280" y="26060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EF4444"/>
                </a:solidFill>
              </a:rPr>
              <a:t>SSID: HomeNet</a:t>
            </a:r>
            <a:br>
              <a:rPr lang="en-US" sz="900">
                <a:solidFill>
                  <a:srgbClr val="EF4444"/>
                </a:solidFill>
              </a:rPr>
            </a:br>
            <a:r>
              <a:rPr lang="en-US" sz="900">
                <a:solidFill>
                  <a:srgbClr val="475569"/>
                </a:solidFill>
              </a:rPr>
              <a:t>Auth: Open/WPA2</a:t>
            </a:r>
            <a:br>
              <a:rPr lang="en-US" sz="900">
                <a:solidFill>
                  <a:srgbClr val="475569"/>
                </a:solidFill>
              </a:rPr>
            </a:br>
            <a:r>
              <a:rPr lang="en-US" sz="900">
                <a:solidFill>
                  <a:srgbClr val="EF4444"/>
                </a:solidFill>
              </a:rPr>
              <a:t>No Internet / Proxy</a:t>
            </a:r>
            <a:endParaRPr lang="en-US" sz="900"/>
          </a:p>
        </p:txBody>
      </p:sp>
      <p:sp>
        <p:nvSpPr>
          <p:cNvPr id="1408603254" name="Shape 17"/>
          <p:cNvSpPr/>
          <p:nvPr/>
        </p:nvSpPr>
        <p:spPr bwMode="auto">
          <a:xfrm>
            <a:off x="5303520" y="3337560"/>
            <a:ext cx="2606040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27804718" name="Text 18"/>
          <p:cNvSpPr/>
          <p:nvPr/>
        </p:nvSpPr>
        <p:spPr bwMode="auto">
          <a:xfrm>
            <a:off x="5303520" y="336499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59E0B"/>
                </a:solidFill>
              </a:rPr>
              <a:t>CLIENT DEVICE</a:t>
            </a:r>
            <a:endParaRPr lang="en-US" sz="900"/>
          </a:p>
        </p:txBody>
      </p:sp>
      <p:pic>
        <p:nvPicPr>
          <p:cNvPr id="717565590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464808" y="3639312"/>
            <a:ext cx="320040" cy="320040"/>
          </a:xfrm>
          <a:prstGeom prst="rect">
            <a:avLst/>
          </a:prstGeom>
        </p:spPr>
      </p:pic>
      <p:sp>
        <p:nvSpPr>
          <p:cNvPr id="429358196" name="Text 19"/>
          <p:cNvSpPr/>
          <p:nvPr/>
        </p:nvSpPr>
        <p:spPr bwMode="auto">
          <a:xfrm>
            <a:off x="5349240" y="396177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475569"/>
                </a:solidFill>
              </a:rPr>
              <a:t>Sees two "HomeNet"</a:t>
            </a:r>
            <a:endParaRPr lang="en-US" sz="900"/>
          </a:p>
          <a:p>
            <a:pPr marL="0" indent="0" algn="ctr">
              <a:buNone/>
              <a:defRPr/>
            </a:pPr>
            <a:r>
              <a:rPr lang="en-US" sz="900">
                <a:solidFill>
                  <a:srgbClr val="475569"/>
                </a:solidFill>
              </a:rPr>
              <a:t>Connects to stronger signal →</a:t>
            </a:r>
            <a:endParaRPr lang="en-US" sz="900"/>
          </a:p>
        </p:txBody>
      </p:sp>
      <p:pic>
        <p:nvPicPr>
          <p:cNvPr id="1238649100" name="Image 3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8366760" y="182880"/>
            <a:ext cx="457200" cy="45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125445" name="Shape 0"/>
          <p:cNvSpPr/>
          <p:nvPr/>
        </p:nvSpPr>
        <p:spPr bwMode="auto">
          <a:xfrm>
            <a:off x="0" y="0"/>
            <a:ext cx="914400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90232538" name="Text 1"/>
          <p:cNvSpPr/>
          <p:nvPr/>
        </p:nvSpPr>
        <p:spPr bwMode="auto"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000" b="1" spc="500">
                <a:solidFill>
                  <a:srgbClr val="8B5CF6"/>
                </a:solidFill>
              </a:rPr>
              <a:t>ATTACK #2 — FLOW</a:t>
            </a:r>
            <a:endParaRPr lang="en-US" sz="1000"/>
          </a:p>
        </p:txBody>
      </p:sp>
      <p:sp>
        <p:nvSpPr>
          <p:cNvPr id="1023868347" name="Text 2"/>
          <p:cNvSpPr/>
          <p:nvPr/>
        </p:nvSpPr>
        <p:spPr bwMode="auto"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6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Evil Twin Attack — Step by Step Flow</a:t>
            </a:r>
            <a:endParaRPr lang="en-US" sz="2600"/>
          </a:p>
        </p:txBody>
      </p:sp>
      <p:sp>
        <p:nvSpPr>
          <p:cNvPr id="15104166" name="Shape 3"/>
          <p:cNvSpPr/>
          <p:nvPr/>
        </p:nvSpPr>
        <p:spPr bwMode="auto">
          <a:xfrm>
            <a:off x="953402" y="1342824"/>
            <a:ext cx="164592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507362150" name="Shape 4"/>
          <p:cNvSpPr/>
          <p:nvPr/>
        </p:nvSpPr>
        <p:spPr bwMode="auto">
          <a:xfrm>
            <a:off x="953402" y="1342824"/>
            <a:ext cx="1645920" cy="292608"/>
          </a:xfrm>
          <a:prstGeom prst="rect">
            <a:avLst/>
          </a:prstGeom>
          <a:solidFill>
            <a:srgbClr val="8B5CF6">
              <a:alpha val="1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47116812" name="Text 5"/>
          <p:cNvSpPr/>
          <p:nvPr/>
        </p:nvSpPr>
        <p:spPr bwMode="auto">
          <a:xfrm>
            <a:off x="953402" y="1342824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8B5CF6"/>
                </a:solidFill>
              </a:rPr>
              <a:t>1</a:t>
            </a:r>
            <a:endParaRPr lang="en-US" sz="1400"/>
          </a:p>
        </p:txBody>
      </p:sp>
      <p:sp>
        <p:nvSpPr>
          <p:cNvPr id="310276623" name="Text 6"/>
          <p:cNvSpPr/>
          <p:nvPr/>
        </p:nvSpPr>
        <p:spPr bwMode="auto">
          <a:xfrm>
            <a:off x="1364882" y="136111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8B5CF6"/>
                </a:solidFill>
              </a:rPr>
              <a:t>Clone SSID</a:t>
            </a:r>
            <a:endParaRPr lang="en-US" sz="900"/>
          </a:p>
        </p:txBody>
      </p:sp>
      <p:sp>
        <p:nvSpPr>
          <p:cNvPr id="1883988114" name="Text 7"/>
          <p:cNvSpPr/>
          <p:nvPr/>
        </p:nvSpPr>
        <p:spPr bwMode="auto">
          <a:xfrm>
            <a:off x="1044842" y="1690296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475569"/>
                </a:solidFill>
              </a:rPr>
              <a:t>ESP8266 configured</a:t>
            </a:r>
            <a:endParaRPr lang="en-US" sz="800"/>
          </a:p>
          <a:p>
            <a:pPr marL="0" indent="0" algn="ctr">
              <a:buNone/>
              <a:defRPr/>
            </a:pPr>
            <a:r>
              <a:rPr lang="en-US" sz="800">
                <a:solidFill>
                  <a:srgbClr val="475569"/>
                </a:solidFill>
              </a:rPr>
              <a:t>with same SSID</a:t>
            </a:r>
            <a:endParaRPr lang="en-US" sz="800"/>
          </a:p>
        </p:txBody>
      </p:sp>
      <p:sp>
        <p:nvSpPr>
          <p:cNvPr id="1803024328" name="Shape 8"/>
          <p:cNvSpPr/>
          <p:nvPr/>
        </p:nvSpPr>
        <p:spPr bwMode="auto">
          <a:xfrm>
            <a:off x="3239401" y="1342824"/>
            <a:ext cx="164592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684724574" name="Shape 9"/>
          <p:cNvSpPr/>
          <p:nvPr/>
        </p:nvSpPr>
        <p:spPr bwMode="auto">
          <a:xfrm>
            <a:off x="3239401" y="1342824"/>
            <a:ext cx="1645920" cy="292608"/>
          </a:xfrm>
          <a:prstGeom prst="rect">
            <a:avLst/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85870458" name="Text 10"/>
          <p:cNvSpPr/>
          <p:nvPr/>
        </p:nvSpPr>
        <p:spPr bwMode="auto">
          <a:xfrm>
            <a:off x="3239401" y="1342824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3B82F6"/>
                </a:solidFill>
              </a:rPr>
              <a:t>2</a:t>
            </a:r>
            <a:endParaRPr lang="en-US" sz="1400"/>
          </a:p>
        </p:txBody>
      </p:sp>
      <p:sp>
        <p:nvSpPr>
          <p:cNvPr id="1447084541" name="Text 11"/>
          <p:cNvSpPr/>
          <p:nvPr/>
        </p:nvSpPr>
        <p:spPr bwMode="auto">
          <a:xfrm>
            <a:off x="3650882" y="136111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3B82F6"/>
                </a:solidFill>
              </a:rPr>
              <a:t>Broadcast Beacons</a:t>
            </a:r>
            <a:endParaRPr lang="en-US" sz="900"/>
          </a:p>
        </p:txBody>
      </p:sp>
      <p:sp>
        <p:nvSpPr>
          <p:cNvPr id="708413719" name="Text 12"/>
          <p:cNvSpPr/>
          <p:nvPr/>
        </p:nvSpPr>
        <p:spPr bwMode="auto">
          <a:xfrm>
            <a:off x="3330842" y="1690296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475569"/>
                </a:solidFill>
              </a:rPr>
              <a:t>Rogue AP advertises</a:t>
            </a:r>
            <a:endParaRPr lang="en-US" sz="800"/>
          </a:p>
          <a:p>
            <a:pPr marL="0" indent="0" algn="ctr">
              <a:buNone/>
              <a:defRPr/>
            </a:pPr>
            <a:r>
              <a:rPr lang="en-US" sz="800">
                <a:solidFill>
                  <a:srgbClr val="475569"/>
                </a:solidFill>
              </a:rPr>
              <a:t>cloned network</a:t>
            </a:r>
            <a:endParaRPr lang="en-US" sz="800"/>
          </a:p>
        </p:txBody>
      </p:sp>
      <p:sp>
        <p:nvSpPr>
          <p:cNvPr id="917065277" name="Shape 13"/>
          <p:cNvSpPr/>
          <p:nvPr/>
        </p:nvSpPr>
        <p:spPr bwMode="auto">
          <a:xfrm>
            <a:off x="5525402" y="1342824"/>
            <a:ext cx="164592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561170170" name="Shape 14"/>
          <p:cNvSpPr/>
          <p:nvPr/>
        </p:nvSpPr>
        <p:spPr bwMode="auto">
          <a:xfrm>
            <a:off x="5525402" y="1342824"/>
            <a:ext cx="1645920" cy="292608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10142275" name="Text 15"/>
          <p:cNvSpPr/>
          <p:nvPr/>
        </p:nvSpPr>
        <p:spPr bwMode="auto">
          <a:xfrm>
            <a:off x="5525402" y="1342824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EF4444"/>
                </a:solidFill>
              </a:rPr>
              <a:t>3</a:t>
            </a:r>
            <a:endParaRPr lang="en-US" sz="1400"/>
          </a:p>
        </p:txBody>
      </p:sp>
      <p:sp>
        <p:nvSpPr>
          <p:cNvPr id="1968037196" name="Text 16"/>
          <p:cNvSpPr/>
          <p:nvPr/>
        </p:nvSpPr>
        <p:spPr bwMode="auto">
          <a:xfrm>
            <a:off x="5936881" y="136111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EF4444"/>
                </a:solidFill>
              </a:rPr>
              <a:t>Deauth Real AP</a:t>
            </a:r>
            <a:endParaRPr lang="en-US" sz="900"/>
          </a:p>
        </p:txBody>
      </p:sp>
      <p:sp>
        <p:nvSpPr>
          <p:cNvPr id="97274659" name="Text 17"/>
          <p:cNvSpPr/>
          <p:nvPr/>
        </p:nvSpPr>
        <p:spPr bwMode="auto">
          <a:xfrm>
            <a:off x="5616842" y="1690296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475569"/>
                </a:solidFill>
              </a:rPr>
              <a:t>Force disconnect</a:t>
            </a:r>
            <a:endParaRPr lang="en-US" sz="800"/>
          </a:p>
          <a:p>
            <a:pPr marL="0" indent="0" algn="ctr">
              <a:buNone/>
              <a:defRPr/>
            </a:pPr>
            <a:r>
              <a:rPr lang="en-US" sz="800">
                <a:solidFill>
                  <a:srgbClr val="475569"/>
                </a:solidFill>
              </a:rPr>
              <a:t>from legitimate AP</a:t>
            </a:r>
            <a:endParaRPr lang="en-US" sz="800"/>
          </a:p>
        </p:txBody>
      </p:sp>
      <p:sp>
        <p:nvSpPr>
          <p:cNvPr id="361765989" name="Shape 18"/>
          <p:cNvSpPr/>
          <p:nvPr/>
        </p:nvSpPr>
        <p:spPr bwMode="auto">
          <a:xfrm>
            <a:off x="5525402" y="3007032"/>
            <a:ext cx="164592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676843224" name="Shape 19"/>
          <p:cNvSpPr/>
          <p:nvPr/>
        </p:nvSpPr>
        <p:spPr bwMode="auto">
          <a:xfrm>
            <a:off x="5525402" y="3007032"/>
            <a:ext cx="1645920" cy="292608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33026834" name="Text 20"/>
          <p:cNvSpPr/>
          <p:nvPr/>
        </p:nvSpPr>
        <p:spPr bwMode="auto">
          <a:xfrm>
            <a:off x="5525402" y="300703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59E0B"/>
                </a:solidFill>
              </a:rPr>
              <a:t>4</a:t>
            </a:r>
            <a:endParaRPr lang="en-US" sz="1400"/>
          </a:p>
        </p:txBody>
      </p:sp>
      <p:sp>
        <p:nvSpPr>
          <p:cNvPr id="1096196492" name="Text 21"/>
          <p:cNvSpPr/>
          <p:nvPr/>
        </p:nvSpPr>
        <p:spPr bwMode="auto">
          <a:xfrm>
            <a:off x="5936881" y="30253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F59E0B"/>
                </a:solidFill>
              </a:rPr>
              <a:t>Victim Scans</a:t>
            </a:r>
            <a:endParaRPr lang="en-US" sz="900"/>
          </a:p>
        </p:txBody>
      </p:sp>
      <p:sp>
        <p:nvSpPr>
          <p:cNvPr id="1858777268" name="Text 22"/>
          <p:cNvSpPr/>
          <p:nvPr/>
        </p:nvSpPr>
        <p:spPr bwMode="auto">
          <a:xfrm>
            <a:off x="5616842" y="3354504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475569"/>
                </a:solidFill>
              </a:rPr>
              <a:t>Disconnected client</a:t>
            </a:r>
            <a:endParaRPr lang="en-US" sz="800"/>
          </a:p>
          <a:p>
            <a:pPr marL="0" indent="0" algn="ctr">
              <a:buNone/>
              <a:defRPr/>
            </a:pPr>
            <a:r>
              <a:rPr lang="en-US" sz="800">
                <a:solidFill>
                  <a:srgbClr val="475569"/>
                </a:solidFill>
              </a:rPr>
              <a:t>searches for networks</a:t>
            </a:r>
            <a:endParaRPr lang="en-US" sz="800"/>
          </a:p>
        </p:txBody>
      </p:sp>
      <p:sp>
        <p:nvSpPr>
          <p:cNvPr id="327423396" name="Shape 23"/>
          <p:cNvSpPr/>
          <p:nvPr/>
        </p:nvSpPr>
        <p:spPr bwMode="auto">
          <a:xfrm>
            <a:off x="3239401" y="2988744"/>
            <a:ext cx="164592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687399137" name="Shape 24"/>
          <p:cNvSpPr/>
          <p:nvPr/>
        </p:nvSpPr>
        <p:spPr bwMode="auto">
          <a:xfrm>
            <a:off x="3239401" y="2988744"/>
            <a:ext cx="1645920" cy="292608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31186572" name="Text 25"/>
          <p:cNvSpPr/>
          <p:nvPr/>
        </p:nvSpPr>
        <p:spPr bwMode="auto">
          <a:xfrm>
            <a:off x="3239401" y="2988744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10B981"/>
                </a:solidFill>
              </a:rPr>
              <a:t>5</a:t>
            </a:r>
            <a:endParaRPr lang="en-US" sz="1400"/>
          </a:p>
        </p:txBody>
      </p:sp>
      <p:sp>
        <p:nvSpPr>
          <p:cNvPr id="1131750974" name="Text 26"/>
          <p:cNvSpPr/>
          <p:nvPr/>
        </p:nvSpPr>
        <p:spPr bwMode="auto">
          <a:xfrm>
            <a:off x="3650882" y="300703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10B981"/>
                </a:solidFill>
              </a:rPr>
              <a:t>Auto-Reconnect</a:t>
            </a:r>
            <a:endParaRPr lang="en-US" sz="900"/>
          </a:p>
        </p:txBody>
      </p:sp>
      <p:sp>
        <p:nvSpPr>
          <p:cNvPr id="310400790" name="Text 27"/>
          <p:cNvSpPr/>
          <p:nvPr/>
        </p:nvSpPr>
        <p:spPr bwMode="auto">
          <a:xfrm>
            <a:off x="3330842" y="3336216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475569"/>
                </a:solidFill>
              </a:rPr>
              <a:t>Connects to evil twin</a:t>
            </a:r>
            <a:endParaRPr lang="en-US" sz="800"/>
          </a:p>
          <a:p>
            <a:pPr marL="0" indent="0" algn="ctr">
              <a:buNone/>
              <a:defRPr/>
            </a:pPr>
            <a:r>
              <a:rPr lang="en-US" sz="800">
                <a:solidFill>
                  <a:srgbClr val="475569"/>
                </a:solidFill>
              </a:rPr>
              <a:t>(stronger signal)</a:t>
            </a:r>
            <a:endParaRPr lang="en-US" sz="800"/>
          </a:p>
        </p:txBody>
      </p:sp>
      <p:sp>
        <p:nvSpPr>
          <p:cNvPr id="1587955555" name="Shape 28"/>
          <p:cNvSpPr/>
          <p:nvPr/>
        </p:nvSpPr>
        <p:spPr bwMode="auto">
          <a:xfrm>
            <a:off x="953402" y="3025320"/>
            <a:ext cx="164592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934687370" name="Shape 29"/>
          <p:cNvSpPr/>
          <p:nvPr/>
        </p:nvSpPr>
        <p:spPr bwMode="auto">
          <a:xfrm>
            <a:off x="953402" y="3025320"/>
            <a:ext cx="1645920" cy="292608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34688009" name="Text 30"/>
          <p:cNvSpPr/>
          <p:nvPr/>
        </p:nvSpPr>
        <p:spPr bwMode="auto">
          <a:xfrm>
            <a:off x="953402" y="30253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EF4444"/>
                </a:solidFill>
              </a:rPr>
              <a:t>6</a:t>
            </a:r>
            <a:endParaRPr lang="en-US" sz="1400"/>
          </a:p>
        </p:txBody>
      </p:sp>
      <p:sp>
        <p:nvSpPr>
          <p:cNvPr id="1889959456" name="Text 31"/>
          <p:cNvSpPr/>
          <p:nvPr/>
        </p:nvSpPr>
        <p:spPr bwMode="auto">
          <a:xfrm>
            <a:off x="1364882" y="304360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EF4444"/>
                </a:solidFill>
              </a:rPr>
              <a:t>Captive Portal</a:t>
            </a:r>
            <a:endParaRPr lang="en-US" sz="900"/>
          </a:p>
        </p:txBody>
      </p:sp>
      <p:sp>
        <p:nvSpPr>
          <p:cNvPr id="741881605" name="Text 32"/>
          <p:cNvSpPr/>
          <p:nvPr/>
        </p:nvSpPr>
        <p:spPr bwMode="auto">
          <a:xfrm>
            <a:off x="1044842" y="3372792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475569"/>
                </a:solidFill>
              </a:rPr>
              <a:t>Fake login page</a:t>
            </a:r>
            <a:endParaRPr lang="en-US" sz="800"/>
          </a:p>
          <a:p>
            <a:pPr marL="0" indent="0" algn="ctr">
              <a:buNone/>
              <a:defRPr/>
            </a:pPr>
            <a:r>
              <a:rPr lang="en-US" sz="800">
                <a:solidFill>
                  <a:srgbClr val="475569"/>
                </a:solidFill>
              </a:rPr>
              <a:t>harvests credentials</a:t>
            </a:r>
            <a:endParaRPr lang="en-US" sz="800"/>
          </a:p>
        </p:txBody>
      </p:sp>
      <p:sp>
        <p:nvSpPr>
          <p:cNvPr id="692570704" name="Shape 33"/>
          <p:cNvSpPr/>
          <p:nvPr/>
        </p:nvSpPr>
        <p:spPr bwMode="auto">
          <a:xfrm>
            <a:off x="2599322" y="1800024"/>
            <a:ext cx="6400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679804817" name="Shape 34"/>
          <p:cNvSpPr/>
          <p:nvPr/>
        </p:nvSpPr>
        <p:spPr bwMode="auto">
          <a:xfrm>
            <a:off x="4885322" y="1800024"/>
            <a:ext cx="6400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95218972" name="Shape 35"/>
          <p:cNvSpPr/>
          <p:nvPr/>
        </p:nvSpPr>
        <p:spPr bwMode="auto">
          <a:xfrm>
            <a:off x="6348362" y="2257224"/>
            <a:ext cx="0" cy="73152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52116207" name="Shape 36"/>
          <p:cNvSpPr/>
          <p:nvPr/>
        </p:nvSpPr>
        <p:spPr bwMode="auto">
          <a:xfrm>
            <a:off x="4885322" y="3445944"/>
            <a:ext cx="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605860673" name="Shape 37"/>
          <p:cNvSpPr/>
          <p:nvPr/>
        </p:nvSpPr>
        <p:spPr bwMode="auto">
          <a:xfrm>
            <a:off x="7171322" y="3464232"/>
            <a:ext cx="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23934530" name="Shape 38"/>
          <p:cNvSpPr/>
          <p:nvPr/>
        </p:nvSpPr>
        <p:spPr bwMode="auto">
          <a:xfrm>
            <a:off x="365760" y="4206240"/>
            <a:ext cx="8412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97364825" name="Shape 39"/>
          <p:cNvSpPr/>
          <p:nvPr/>
        </p:nvSpPr>
        <p:spPr bwMode="auto">
          <a:xfrm>
            <a:off x="365760" y="4206240"/>
            <a:ext cx="54864" cy="7315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26400964" name="Text 40"/>
          <p:cNvSpPr/>
          <p:nvPr/>
        </p:nvSpPr>
        <p:spPr bwMode="auto">
          <a:xfrm>
            <a:off x="594360" y="427939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8B5CF6"/>
                </a:solidFill>
              </a:rPr>
              <a:t>ESP8266 Implementation:</a:t>
            </a:r>
            <a:endParaRPr lang="en-US" sz="1000"/>
          </a:p>
        </p:txBody>
      </p:sp>
      <p:sp>
        <p:nvSpPr>
          <p:cNvPr id="221997314" name="Text 41"/>
          <p:cNvSpPr/>
          <p:nvPr/>
        </p:nvSpPr>
        <p:spPr bwMode="auto">
          <a:xfrm>
            <a:off x="594360" y="4498848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475569"/>
                </a:solidFill>
              </a:rPr>
              <a:t>Custom firmware flashed on ESP8266 creates a fake SSID matching the original AP. When victims connect, they are served a captive portal replica of the legitimate login page. Any credentials entered are captured and logged by the ESP8266.</a:t>
            </a:r>
            <a:endParaRPr lang="en-US" sz="900"/>
          </a:p>
        </p:txBody>
      </p:sp>
      <p:sp>
        <p:nvSpPr>
          <p:cNvPr id="1291993579" name="Shape 35"/>
          <p:cNvSpPr/>
          <p:nvPr/>
        </p:nvSpPr>
        <p:spPr bwMode="auto">
          <a:xfrm flipH="0" flipV="0">
            <a:off x="4885322" y="3493970"/>
            <a:ext cx="640079" cy="36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78564813" name="Shape 33"/>
          <p:cNvSpPr/>
          <p:nvPr/>
        </p:nvSpPr>
        <p:spPr bwMode="auto">
          <a:xfrm>
            <a:off x="2599322" y="3493970"/>
            <a:ext cx="6400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1937351" name="Shape 0"/>
          <p:cNvSpPr/>
          <p:nvPr/>
        </p:nvSpPr>
        <p:spPr bwMode="auto">
          <a:xfrm>
            <a:off x="0" y="0"/>
            <a:ext cx="91440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36992537" name="Text 1"/>
          <p:cNvSpPr/>
          <p:nvPr/>
        </p:nvSpPr>
        <p:spPr bwMode="auto"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000" b="1" spc="500">
                <a:solidFill>
                  <a:srgbClr val="10B981"/>
                </a:solidFill>
              </a:rPr>
              <a:t>COMBINED ATTACK CHAIN</a:t>
            </a:r>
            <a:endParaRPr lang="en-US" sz="1000"/>
          </a:p>
        </p:txBody>
      </p:sp>
      <p:sp>
        <p:nvSpPr>
          <p:cNvPr id="47103100" name="Text 2"/>
          <p:cNvSpPr/>
          <p:nvPr/>
        </p:nvSpPr>
        <p:spPr bwMode="auto"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6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How Deauth + Evil Twin Work Together</a:t>
            </a:r>
            <a:endParaRPr lang="en-US" sz="2600"/>
          </a:p>
        </p:txBody>
      </p:sp>
      <p:sp>
        <p:nvSpPr>
          <p:cNvPr id="1876398930" name="Shape 3"/>
          <p:cNvSpPr/>
          <p:nvPr/>
        </p:nvSpPr>
        <p:spPr bwMode="auto">
          <a:xfrm>
            <a:off x="2194560" y="1600200"/>
            <a:ext cx="0" cy="301752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006205304" name="Shape 4"/>
          <p:cNvSpPr/>
          <p:nvPr/>
        </p:nvSpPr>
        <p:spPr bwMode="auto">
          <a:xfrm>
            <a:off x="548640" y="11887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98592749" name="Shape 5"/>
          <p:cNvSpPr/>
          <p:nvPr/>
        </p:nvSpPr>
        <p:spPr bwMode="auto">
          <a:xfrm>
            <a:off x="548640" y="1188720"/>
            <a:ext cx="54864" cy="411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11099184" name="Text 6"/>
          <p:cNvSpPr/>
          <p:nvPr/>
        </p:nvSpPr>
        <p:spPr bwMode="auto">
          <a:xfrm>
            <a:off x="685800" y="1216151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3B82F6"/>
                </a:solidFill>
              </a:rPr>
              <a:t>Monitor Mode</a:t>
            </a:r>
            <a:endParaRPr lang="en-US" sz="1000"/>
          </a:p>
        </p:txBody>
      </p:sp>
      <p:sp>
        <p:nvSpPr>
          <p:cNvPr id="978612950" name="Text 7"/>
          <p:cNvSpPr/>
          <p:nvPr/>
        </p:nvSpPr>
        <p:spPr bwMode="auto">
          <a:xfrm>
            <a:off x="685800" y="1399032"/>
            <a:ext cx="301751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airmon-ng start wlan0</a:t>
            </a:r>
            <a:endParaRPr lang="en-US" sz="800"/>
          </a:p>
        </p:txBody>
      </p:sp>
      <p:sp>
        <p:nvSpPr>
          <p:cNvPr id="1611407458" name="Shape 8"/>
          <p:cNvSpPr/>
          <p:nvPr/>
        </p:nvSpPr>
        <p:spPr bwMode="auto">
          <a:xfrm>
            <a:off x="2194560" y="2313432"/>
            <a:ext cx="0" cy="301752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138873805" name="Shape 9"/>
          <p:cNvSpPr/>
          <p:nvPr/>
        </p:nvSpPr>
        <p:spPr bwMode="auto">
          <a:xfrm>
            <a:off x="548640" y="1901952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52075391" name="Shape 10"/>
          <p:cNvSpPr/>
          <p:nvPr/>
        </p:nvSpPr>
        <p:spPr bwMode="auto">
          <a:xfrm>
            <a:off x="548640" y="1901952"/>
            <a:ext cx="54864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50076707" name="Text 11"/>
          <p:cNvSpPr/>
          <p:nvPr/>
        </p:nvSpPr>
        <p:spPr bwMode="auto">
          <a:xfrm>
            <a:off x="685800" y="192938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10B981"/>
                </a:solidFill>
              </a:rPr>
              <a:t>Scan Networks</a:t>
            </a:r>
            <a:endParaRPr lang="en-US" sz="1000"/>
          </a:p>
        </p:txBody>
      </p:sp>
      <p:sp>
        <p:nvSpPr>
          <p:cNvPr id="1999941080" name="Text 12"/>
          <p:cNvSpPr/>
          <p:nvPr/>
        </p:nvSpPr>
        <p:spPr bwMode="auto">
          <a:xfrm>
            <a:off x="685800" y="2112264"/>
            <a:ext cx="301751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airodump-ng wlan0mon</a:t>
            </a:r>
            <a:endParaRPr lang="en-US" sz="800"/>
          </a:p>
        </p:txBody>
      </p:sp>
      <p:sp>
        <p:nvSpPr>
          <p:cNvPr id="1924830267" name="Shape 13"/>
          <p:cNvSpPr/>
          <p:nvPr/>
        </p:nvSpPr>
        <p:spPr bwMode="auto">
          <a:xfrm>
            <a:off x="2194560" y="3026664"/>
            <a:ext cx="0" cy="301752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142097505" name="Shape 14"/>
          <p:cNvSpPr/>
          <p:nvPr/>
        </p:nvSpPr>
        <p:spPr bwMode="auto">
          <a:xfrm>
            <a:off x="548640" y="2615184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7973711" name="Shape 15"/>
          <p:cNvSpPr/>
          <p:nvPr/>
        </p:nvSpPr>
        <p:spPr bwMode="auto">
          <a:xfrm>
            <a:off x="548640" y="2615184"/>
            <a:ext cx="54864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37873240" name="Text 16"/>
          <p:cNvSpPr/>
          <p:nvPr/>
        </p:nvSpPr>
        <p:spPr bwMode="auto">
          <a:xfrm>
            <a:off x="685800" y="264261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EF4444"/>
                </a:solidFill>
              </a:rPr>
              <a:t>Deauth Client</a:t>
            </a:r>
            <a:endParaRPr lang="en-US" sz="1000"/>
          </a:p>
        </p:txBody>
      </p:sp>
      <p:sp>
        <p:nvSpPr>
          <p:cNvPr id="2072913432" name="Text 17"/>
          <p:cNvSpPr/>
          <p:nvPr/>
        </p:nvSpPr>
        <p:spPr bwMode="auto">
          <a:xfrm>
            <a:off x="685800" y="2825496"/>
            <a:ext cx="301751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aireplay-ng -0 0 -a &lt;BSSID&gt; -c &lt;CLIENT&gt;</a:t>
            </a:r>
            <a:endParaRPr lang="en-US" sz="800"/>
          </a:p>
        </p:txBody>
      </p:sp>
      <p:sp>
        <p:nvSpPr>
          <p:cNvPr id="912769522" name="Shape 18"/>
          <p:cNvSpPr/>
          <p:nvPr/>
        </p:nvSpPr>
        <p:spPr bwMode="auto">
          <a:xfrm>
            <a:off x="2194560" y="3739896"/>
            <a:ext cx="0" cy="301752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136311656" name="Shape 19"/>
          <p:cNvSpPr/>
          <p:nvPr/>
        </p:nvSpPr>
        <p:spPr bwMode="auto">
          <a:xfrm>
            <a:off x="548640" y="3328416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1389368" name="Shape 20"/>
          <p:cNvSpPr/>
          <p:nvPr/>
        </p:nvSpPr>
        <p:spPr bwMode="auto">
          <a:xfrm>
            <a:off x="548640" y="3328416"/>
            <a:ext cx="54864" cy="4114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84412961" name="Text 21"/>
          <p:cNvSpPr/>
          <p:nvPr/>
        </p:nvSpPr>
        <p:spPr bwMode="auto">
          <a:xfrm>
            <a:off x="685800" y="33558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8B5CF6"/>
                </a:solidFill>
              </a:rPr>
              <a:t>Evil Twin AP</a:t>
            </a:r>
            <a:endParaRPr lang="en-US" sz="1000"/>
          </a:p>
        </p:txBody>
      </p:sp>
      <p:sp>
        <p:nvSpPr>
          <p:cNvPr id="1778500598" name="Text 22"/>
          <p:cNvSpPr/>
          <p:nvPr/>
        </p:nvSpPr>
        <p:spPr bwMode="auto">
          <a:xfrm>
            <a:off x="685800" y="3538728"/>
            <a:ext cx="301751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ESP8266 broadcasts cloned SSID</a:t>
            </a:r>
            <a:endParaRPr lang="en-US" sz="800"/>
          </a:p>
        </p:txBody>
      </p:sp>
      <p:sp>
        <p:nvSpPr>
          <p:cNvPr id="1680008237" name="Shape 23"/>
          <p:cNvSpPr/>
          <p:nvPr/>
        </p:nvSpPr>
        <p:spPr bwMode="auto">
          <a:xfrm>
            <a:off x="548640" y="4041648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1496504" name="Shape 24"/>
          <p:cNvSpPr/>
          <p:nvPr/>
        </p:nvSpPr>
        <p:spPr bwMode="auto">
          <a:xfrm>
            <a:off x="548640" y="4041648"/>
            <a:ext cx="54864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42367435" name="Text 25"/>
          <p:cNvSpPr/>
          <p:nvPr/>
        </p:nvSpPr>
        <p:spPr bwMode="auto">
          <a:xfrm>
            <a:off x="685800" y="40690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F59E0B"/>
                </a:solidFill>
              </a:rPr>
              <a:t>Credential Harvest</a:t>
            </a:r>
            <a:endParaRPr lang="en-US" sz="1000"/>
          </a:p>
        </p:txBody>
      </p:sp>
      <p:sp>
        <p:nvSpPr>
          <p:cNvPr id="1772421066" name="Text 26"/>
          <p:cNvSpPr/>
          <p:nvPr/>
        </p:nvSpPr>
        <p:spPr bwMode="auto">
          <a:xfrm>
            <a:off x="685800" y="4251960"/>
            <a:ext cx="301751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Victim enters password in captive portal</a:t>
            </a:r>
            <a:endParaRPr lang="en-US" sz="800"/>
          </a:p>
        </p:txBody>
      </p:sp>
      <p:sp>
        <p:nvSpPr>
          <p:cNvPr id="1967981255" name="Shape 27"/>
          <p:cNvSpPr/>
          <p:nvPr/>
        </p:nvSpPr>
        <p:spPr bwMode="auto">
          <a:xfrm>
            <a:off x="4206240" y="1188720"/>
            <a:ext cx="45720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3114799" name="Shape 28"/>
          <p:cNvSpPr/>
          <p:nvPr/>
        </p:nvSpPr>
        <p:spPr bwMode="auto">
          <a:xfrm>
            <a:off x="4206240" y="1188720"/>
            <a:ext cx="54864" cy="3657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29730651" name="Text 29"/>
          <p:cNvSpPr/>
          <p:nvPr/>
        </p:nvSpPr>
        <p:spPr bwMode="auto">
          <a:xfrm>
            <a:off x="4389120" y="12984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59E0B"/>
                </a:solidFill>
              </a:rPr>
              <a:t>Attack Impact</a:t>
            </a:r>
            <a:endParaRPr lang="en-US" sz="1300"/>
          </a:p>
        </p:txBody>
      </p:sp>
      <p:sp>
        <p:nvSpPr>
          <p:cNvPr id="60011660" name="Text 30"/>
          <p:cNvSpPr/>
          <p:nvPr/>
        </p:nvSpPr>
        <p:spPr bwMode="auto">
          <a:xfrm>
            <a:off x="4389120" y="16916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F59E0B"/>
                </a:solidFill>
              </a:rPr>
              <a:t>→ </a:t>
            </a:r>
            <a:r>
              <a:rPr lang="en-US" sz="1000">
                <a:solidFill>
                  <a:srgbClr val="475569"/>
                </a:solidFill>
              </a:rPr>
              <a:t>Victim forcibly disconnected from legitimate AP</a:t>
            </a:r>
            <a:endParaRPr lang="en-US" sz="1000"/>
          </a:p>
        </p:txBody>
      </p:sp>
      <p:sp>
        <p:nvSpPr>
          <p:cNvPr id="156108341" name="Text 31"/>
          <p:cNvSpPr/>
          <p:nvPr/>
        </p:nvSpPr>
        <p:spPr bwMode="auto">
          <a:xfrm>
            <a:off x="4389120" y="203911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F59E0B"/>
                </a:solidFill>
              </a:rPr>
              <a:t>→ </a:t>
            </a:r>
            <a:r>
              <a:rPr lang="en-US" sz="1000">
                <a:solidFill>
                  <a:srgbClr val="475569"/>
                </a:solidFill>
              </a:rPr>
              <a:t>Device scans and finds evil twin with same SSID</a:t>
            </a:r>
            <a:endParaRPr lang="en-US" sz="1000"/>
          </a:p>
        </p:txBody>
      </p:sp>
      <p:sp>
        <p:nvSpPr>
          <p:cNvPr id="3440777" name="Text 32"/>
          <p:cNvSpPr/>
          <p:nvPr/>
        </p:nvSpPr>
        <p:spPr bwMode="auto">
          <a:xfrm>
            <a:off x="4389120" y="238658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F59E0B"/>
                </a:solidFill>
              </a:rPr>
              <a:t>→ </a:t>
            </a:r>
            <a:r>
              <a:rPr lang="en-US" sz="1000">
                <a:solidFill>
                  <a:srgbClr val="475569"/>
                </a:solidFill>
              </a:rPr>
              <a:t>Auto-reconnect to rogue AP (stronger signal)</a:t>
            </a:r>
            <a:endParaRPr lang="en-US" sz="1000"/>
          </a:p>
        </p:txBody>
      </p:sp>
      <p:sp>
        <p:nvSpPr>
          <p:cNvPr id="871279610" name="Text 33"/>
          <p:cNvSpPr/>
          <p:nvPr/>
        </p:nvSpPr>
        <p:spPr bwMode="auto">
          <a:xfrm>
            <a:off x="4389120" y="273405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F59E0B"/>
                </a:solidFill>
              </a:rPr>
              <a:t>→ </a:t>
            </a:r>
            <a:r>
              <a:rPr lang="en-US" sz="1000">
                <a:solidFill>
                  <a:srgbClr val="475569"/>
                </a:solidFill>
              </a:rPr>
              <a:t>Captive portal mimics legitimate login page</a:t>
            </a:r>
            <a:endParaRPr lang="en-US" sz="1000"/>
          </a:p>
        </p:txBody>
      </p:sp>
      <p:sp>
        <p:nvSpPr>
          <p:cNvPr id="1842266300" name="Text 34"/>
          <p:cNvSpPr/>
          <p:nvPr/>
        </p:nvSpPr>
        <p:spPr bwMode="auto">
          <a:xfrm>
            <a:off x="4389120" y="308152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F59E0B"/>
                </a:solidFill>
              </a:rPr>
              <a:t>→ </a:t>
            </a:r>
            <a:r>
              <a:rPr lang="en-US" sz="1000">
                <a:solidFill>
                  <a:srgbClr val="475569"/>
                </a:solidFill>
              </a:rPr>
              <a:t>Credentials captured in plain text</a:t>
            </a:r>
            <a:endParaRPr lang="en-US" sz="1000"/>
          </a:p>
        </p:txBody>
      </p:sp>
      <p:sp>
        <p:nvSpPr>
          <p:cNvPr id="239460790" name="Text 35"/>
          <p:cNvSpPr/>
          <p:nvPr/>
        </p:nvSpPr>
        <p:spPr bwMode="auto">
          <a:xfrm>
            <a:off x="4389120" y="3429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F59E0B"/>
                </a:solidFill>
              </a:rPr>
              <a:t>→ </a:t>
            </a:r>
            <a:r>
              <a:rPr lang="en-US" sz="1000">
                <a:solidFill>
                  <a:srgbClr val="475569"/>
                </a:solidFill>
              </a:rPr>
              <a:t>Attacker now has Wi-Fi password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7742789" name="Shape 0"/>
          <p:cNvSpPr/>
          <p:nvPr/>
        </p:nvSpPr>
        <p:spPr bwMode="auto"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20983854" name="Text 1"/>
          <p:cNvSpPr/>
          <p:nvPr/>
        </p:nvSpPr>
        <p:spPr bwMode="auto"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000" b="1" spc="500">
                <a:solidFill>
                  <a:srgbClr val="3B82F6"/>
                </a:solidFill>
              </a:rPr>
              <a:t>DEFENSES</a:t>
            </a:r>
            <a:endParaRPr lang="en-US" sz="1000"/>
          </a:p>
        </p:txBody>
      </p:sp>
      <p:sp>
        <p:nvSpPr>
          <p:cNvPr id="745532010" name="Text 2"/>
          <p:cNvSpPr/>
          <p:nvPr/>
        </p:nvSpPr>
        <p:spPr bwMode="auto"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6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How to Protect Against These Attacks</a:t>
            </a:r>
            <a:endParaRPr lang="en-US" sz="2600"/>
          </a:p>
        </p:txBody>
      </p:sp>
      <p:sp>
        <p:nvSpPr>
          <p:cNvPr id="1163309556" name="Shape 3"/>
          <p:cNvSpPr/>
          <p:nvPr/>
        </p:nvSpPr>
        <p:spPr bwMode="auto">
          <a:xfrm>
            <a:off x="365760" y="118872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4744604" name="Shape 4"/>
          <p:cNvSpPr/>
          <p:nvPr/>
        </p:nvSpPr>
        <p:spPr bwMode="auto">
          <a:xfrm>
            <a:off x="365760" y="1188720"/>
            <a:ext cx="54864" cy="1691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010256467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02920" y="1280160"/>
            <a:ext cx="411480" cy="411480"/>
          </a:xfrm>
          <a:prstGeom prst="rect">
            <a:avLst/>
          </a:prstGeom>
        </p:spPr>
      </p:pic>
      <p:sp>
        <p:nvSpPr>
          <p:cNvPr id="1651734418" name="Text 5"/>
          <p:cNvSpPr/>
          <p:nvPr/>
        </p:nvSpPr>
        <p:spPr bwMode="auto">
          <a:xfrm>
            <a:off x="1005840" y="12984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0B981"/>
                </a:solidFill>
              </a:rPr>
              <a:t>802.11w PMF</a:t>
            </a:r>
            <a:endParaRPr lang="en-US" sz="1300"/>
          </a:p>
        </p:txBody>
      </p:sp>
      <p:sp>
        <p:nvSpPr>
          <p:cNvPr id="727052795" name="Text 6"/>
          <p:cNvSpPr/>
          <p:nvPr/>
        </p:nvSpPr>
        <p:spPr bwMode="auto">
          <a:xfrm>
            <a:off x="530352" y="1771248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475569"/>
                </a:solidFill>
              </a:rPr>
              <a:t>Protected Management Frames encrypts management frames including deauth packets. Forged frames fail signature verification and are silently dropped — deauth attack becomes impossible.</a:t>
            </a:r>
            <a:endParaRPr lang="en-US" sz="950"/>
          </a:p>
        </p:txBody>
      </p:sp>
      <p:sp>
        <p:nvSpPr>
          <p:cNvPr id="43378629" name="Shape 7"/>
          <p:cNvSpPr/>
          <p:nvPr/>
        </p:nvSpPr>
        <p:spPr bwMode="auto">
          <a:xfrm>
            <a:off x="4754880" y="118872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2090844" name="Shape 8"/>
          <p:cNvSpPr/>
          <p:nvPr/>
        </p:nvSpPr>
        <p:spPr bwMode="auto">
          <a:xfrm>
            <a:off x="4754880" y="1188720"/>
            <a:ext cx="54864" cy="16916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795795999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892039" y="1280160"/>
            <a:ext cx="411480" cy="411480"/>
          </a:xfrm>
          <a:prstGeom prst="rect">
            <a:avLst/>
          </a:prstGeom>
        </p:spPr>
      </p:pic>
      <p:sp>
        <p:nvSpPr>
          <p:cNvPr id="331299444" name="Text 9"/>
          <p:cNvSpPr/>
          <p:nvPr/>
        </p:nvSpPr>
        <p:spPr bwMode="auto">
          <a:xfrm>
            <a:off x="5394960" y="12984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3B82F6"/>
                </a:solidFill>
              </a:rPr>
              <a:t>WPA3-Personal</a:t>
            </a:r>
            <a:endParaRPr lang="en-US" sz="1300"/>
          </a:p>
        </p:txBody>
      </p:sp>
      <p:sp>
        <p:nvSpPr>
          <p:cNvPr id="1115919057" name="Text 10"/>
          <p:cNvSpPr/>
          <p:nvPr/>
        </p:nvSpPr>
        <p:spPr bwMode="auto">
          <a:xfrm>
            <a:off x="4919471" y="1771248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475569"/>
                </a:solidFill>
              </a:rPr>
              <a:t>Mandates PMF by default. Replaces PSK with SAE (Simultaneous Authentication of Equals) preventing offline brute-force attacks on captured handshakes.</a:t>
            </a:r>
            <a:endParaRPr lang="en-US" sz="950"/>
          </a:p>
        </p:txBody>
      </p:sp>
      <p:sp>
        <p:nvSpPr>
          <p:cNvPr id="1485687560" name="Shape 11"/>
          <p:cNvSpPr/>
          <p:nvPr/>
        </p:nvSpPr>
        <p:spPr bwMode="auto">
          <a:xfrm>
            <a:off x="365760" y="306324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0553524" name="Shape 12"/>
          <p:cNvSpPr/>
          <p:nvPr/>
        </p:nvSpPr>
        <p:spPr bwMode="auto">
          <a:xfrm>
            <a:off x="365760" y="3063240"/>
            <a:ext cx="54864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537667439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502920" y="3154680"/>
            <a:ext cx="411480" cy="411480"/>
          </a:xfrm>
          <a:prstGeom prst="rect">
            <a:avLst/>
          </a:prstGeom>
        </p:spPr>
      </p:pic>
      <p:sp>
        <p:nvSpPr>
          <p:cNvPr id="215943453" name="Text 13"/>
          <p:cNvSpPr/>
          <p:nvPr/>
        </p:nvSpPr>
        <p:spPr bwMode="auto">
          <a:xfrm>
            <a:off x="1005840" y="31729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59E0B"/>
                </a:solidFill>
              </a:rPr>
              <a:t>VPN</a:t>
            </a:r>
            <a:endParaRPr lang="en-US" sz="1300"/>
          </a:p>
        </p:txBody>
      </p:sp>
      <p:sp>
        <p:nvSpPr>
          <p:cNvPr id="547545615" name="Text 14"/>
          <p:cNvSpPr/>
          <p:nvPr/>
        </p:nvSpPr>
        <p:spPr bwMode="auto">
          <a:xfrm>
            <a:off x="530352" y="3645768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475569"/>
                </a:solidFill>
              </a:rPr>
              <a:t>Encrypts all traffic end-to-end. Even if connected to evil twin, attacker sees only ciphertext. Essential for public Wi-Fi usage.</a:t>
            </a:r>
            <a:endParaRPr lang="en-US" sz="950"/>
          </a:p>
        </p:txBody>
      </p:sp>
      <p:sp>
        <p:nvSpPr>
          <p:cNvPr id="630920983" name="Shape 15"/>
          <p:cNvSpPr/>
          <p:nvPr/>
        </p:nvSpPr>
        <p:spPr bwMode="auto">
          <a:xfrm>
            <a:off x="4754880" y="306324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5921845" name="Shape 16"/>
          <p:cNvSpPr/>
          <p:nvPr/>
        </p:nvSpPr>
        <p:spPr bwMode="auto">
          <a:xfrm>
            <a:off x="4754880" y="3063240"/>
            <a:ext cx="54864" cy="16916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2092366858" name="Image 3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4892039" y="3154680"/>
            <a:ext cx="411480" cy="411480"/>
          </a:xfrm>
          <a:prstGeom prst="rect">
            <a:avLst/>
          </a:prstGeom>
        </p:spPr>
      </p:pic>
      <p:sp>
        <p:nvSpPr>
          <p:cNvPr id="1487060517" name="Text 17"/>
          <p:cNvSpPr/>
          <p:nvPr/>
        </p:nvSpPr>
        <p:spPr bwMode="auto">
          <a:xfrm>
            <a:off x="5394960" y="31729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8B5CF6"/>
                </a:solidFill>
              </a:rPr>
              <a:t>HTTPS + HSTS</a:t>
            </a:r>
            <a:endParaRPr lang="en-US" sz="1300"/>
          </a:p>
        </p:txBody>
      </p:sp>
      <p:sp>
        <p:nvSpPr>
          <p:cNvPr id="46005695" name="Text 18"/>
          <p:cNvSpPr/>
          <p:nvPr/>
        </p:nvSpPr>
        <p:spPr bwMode="auto">
          <a:xfrm>
            <a:off x="4919471" y="3645768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475569"/>
                </a:solidFill>
              </a:rPr>
              <a:t>Encrypts web traffic and prevents downgrade attacks. Certificate pinning in apps rejects fake certificates from MITM attackers.</a:t>
            </a:r>
            <a:endParaRPr lang="en-US" sz="950"/>
          </a:p>
        </p:txBody>
      </p:sp>
      <p:sp>
        <p:nvSpPr>
          <p:cNvPr id="279656310" name="Shape 19"/>
          <p:cNvSpPr/>
          <p:nvPr/>
        </p:nvSpPr>
        <p:spPr bwMode="auto">
          <a:xfrm>
            <a:off x="365760" y="4754880"/>
            <a:ext cx="841248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2361750" name="Text 20"/>
          <p:cNvSpPr/>
          <p:nvPr/>
        </p:nvSpPr>
        <p:spPr bwMode="auto">
          <a:xfrm>
            <a:off x="457200" y="4773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475569"/>
                </a:solidFill>
              </a:rPr>
              <a:t>Best protection: WPA3 router + PMF-enabled clients + VPN on untrusted networks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7</Slides>
  <Notes>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Deauth &amp; Evil Twin Attacks</dc:title>
  <dc:subject>PptxGenJS Presentation</dc:subject>
  <dc:creator>PptxGenJS</dc:creator>
  <cp:lastModifiedBy/>
  <cp:revision>3</cp:revision>
  <dcterms:created xsi:type="dcterms:W3CDTF">2026-04-14T16:59:28Z</dcterms:created>
  <dcterms:modified xsi:type="dcterms:W3CDTF">2026-04-14T17:13:22Z</dcterms:modified>
</cp:coreProperties>
</file>